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odec Pro Bold" charset="1" panose="00000600000000000000"/>
      <p:regular r:id="rId27"/>
    </p:embeddedFont>
    <p:embeddedFont>
      <p:font typeface="Codec Pro Ultra-Bold" charset="1" panose="00000700000000000000"/>
      <p:regular r:id="rId28"/>
    </p:embeddedFont>
    <p:embeddedFont>
      <p:font typeface="Codec Pro" charset="1" panose="00000500000000000000"/>
      <p:regular r:id="rId29"/>
    </p:embeddedFont>
    <p:embeddedFont>
      <p:font typeface="Codec Pro Light" charset="1" panose="000003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1.png" Type="http://schemas.openxmlformats.org/officeDocument/2006/relationships/image"/><Relationship Id="rId17" Target="../media/image2.png" Type="http://schemas.openxmlformats.org/officeDocument/2006/relationships/image"/><Relationship Id="rId18" Target="../media/image3.svg" Type="http://schemas.openxmlformats.org/officeDocument/2006/relationships/image"/><Relationship Id="rId19" Target="../media/image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9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7.png" Type="http://schemas.openxmlformats.org/officeDocument/2006/relationships/image"/><Relationship Id="rId17" Target="../media/image48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9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0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6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6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7.jpeg" Type="http://schemas.openxmlformats.org/officeDocument/2006/relationships/image"/><Relationship Id="rId6" Target="../media/image6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7421" y="-175738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3751" y="3037276"/>
            <a:ext cx="11511356" cy="157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39"/>
              </a:lnSpc>
              <a:spcBef>
                <a:spcPct val="0"/>
              </a:spcBef>
            </a:pPr>
            <a:r>
              <a:rPr lang="en-US" b="true" sz="845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 Learning in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8984" y="4550185"/>
            <a:ext cx="11131301" cy="85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6"/>
              </a:lnSpc>
              <a:spcBef>
                <a:spcPct val="0"/>
              </a:spcBef>
            </a:pPr>
            <a:r>
              <a:rPr lang="en-US" b="true" sz="4511">
                <a:solidFill>
                  <a:srgbClr val="FF7AE6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Pre-trained Models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852502" y="4064572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12597" y="-2271513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9"/>
                </a:lnTo>
                <a:lnTo>
                  <a:pt x="0" y="9424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493121" y="1760129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04015" y="1313693"/>
            <a:ext cx="1441239" cy="1507178"/>
          </a:xfrm>
          <a:custGeom>
            <a:avLst/>
            <a:gdLst/>
            <a:ahLst/>
            <a:cxnLst/>
            <a:rect r="r" b="b" t="t" l="l"/>
            <a:pathLst>
              <a:path h="1507178" w="1441239">
                <a:moveTo>
                  <a:pt x="0" y="0"/>
                </a:moveTo>
                <a:lnTo>
                  <a:pt x="1441239" y="0"/>
                </a:lnTo>
                <a:lnTo>
                  <a:pt x="1441239" y="1507179"/>
                </a:lnTo>
                <a:lnTo>
                  <a:pt x="0" y="15071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51247" y="7019306"/>
            <a:ext cx="4546775" cy="138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3"/>
              </a:lnSpc>
            </a:pPr>
            <a:r>
              <a:rPr lang="en-US" sz="38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Presented to</a:t>
            </a:r>
          </a:p>
          <a:p>
            <a:pPr algn="ctr">
              <a:lnSpc>
                <a:spcPts val="5363"/>
              </a:lnSpc>
              <a:spcBef>
                <a:spcPct val="0"/>
              </a:spcBef>
            </a:pPr>
            <a:r>
              <a:rPr lang="en-US" sz="38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Dr. Rodrigue Imad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32200" y="8322164"/>
            <a:ext cx="33271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Presented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32200" y="8814435"/>
            <a:ext cx="3327100" cy="86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Omar Houssein</a:t>
            </a:r>
          </a:p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Mario Makhlouta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0374" y="1934980"/>
            <a:ext cx="6114204" cy="235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5"/>
              </a:lnSpc>
            </a:pPr>
            <a:r>
              <a:rPr lang="en-US" sz="5472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Problem </a:t>
            </a:r>
            <a:r>
              <a:rPr lang="en-US" sz="5472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(Training From-Scratch)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97421" y="-175738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15472" y="572564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799252">
            <a:off x="9812272" y="-3504314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65283" y="1954030"/>
            <a:ext cx="6994017" cy="699401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37527" t="0" r="-3752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6469" y="7160733"/>
            <a:ext cx="6420670" cy="1666137"/>
            <a:chOff x="0" y="0"/>
            <a:chExt cx="1691041" cy="4388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1041" cy="438818"/>
            </a:xfrm>
            <a:custGeom>
              <a:avLst/>
              <a:gdLst/>
              <a:ahLst/>
              <a:cxnLst/>
              <a:rect r="r" b="b" t="t" l="l"/>
              <a:pathLst>
                <a:path h="438818" w="1691041">
                  <a:moveTo>
                    <a:pt x="61495" y="0"/>
                  </a:moveTo>
                  <a:lnTo>
                    <a:pt x="1629546" y="0"/>
                  </a:lnTo>
                  <a:cubicBezTo>
                    <a:pt x="1663508" y="0"/>
                    <a:pt x="1691041" y="27532"/>
                    <a:pt x="1691041" y="61495"/>
                  </a:cubicBezTo>
                  <a:lnTo>
                    <a:pt x="1691041" y="377323"/>
                  </a:lnTo>
                  <a:cubicBezTo>
                    <a:pt x="1691041" y="393633"/>
                    <a:pt x="1684562" y="409274"/>
                    <a:pt x="1673029" y="420807"/>
                  </a:cubicBezTo>
                  <a:cubicBezTo>
                    <a:pt x="1661497" y="432339"/>
                    <a:pt x="1645855" y="438818"/>
                    <a:pt x="1629546" y="438818"/>
                  </a:cubicBezTo>
                  <a:lnTo>
                    <a:pt x="61495" y="438818"/>
                  </a:lnTo>
                  <a:cubicBezTo>
                    <a:pt x="45185" y="438818"/>
                    <a:pt x="29544" y="432339"/>
                    <a:pt x="18011" y="420807"/>
                  </a:cubicBezTo>
                  <a:cubicBezTo>
                    <a:pt x="6479" y="409274"/>
                    <a:pt x="0" y="393633"/>
                    <a:pt x="0" y="377323"/>
                  </a:cubicBezTo>
                  <a:lnTo>
                    <a:pt x="0" y="61495"/>
                  </a:lnTo>
                  <a:cubicBezTo>
                    <a:pt x="0" y="45185"/>
                    <a:pt x="6479" y="29544"/>
                    <a:pt x="18011" y="18011"/>
                  </a:cubicBezTo>
                  <a:cubicBezTo>
                    <a:pt x="29544" y="6479"/>
                    <a:pt x="45185" y="0"/>
                    <a:pt x="61495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691041" cy="534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77185" y="4524628"/>
            <a:ext cx="7473402" cy="24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332" indent="-249166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Requires massive datasets and high computing power.</a:t>
            </a:r>
          </a:p>
          <a:p>
            <a:pPr algn="l" marL="498332" indent="-249166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Training from zero is expensive and incredibly slow. </a:t>
            </a:r>
          </a:p>
          <a:p>
            <a:pPr algn="l" marL="498332" indent="-249166" lvl="1">
              <a:lnSpc>
                <a:spcPts val="3231"/>
              </a:lnSpc>
              <a:spcBef>
                <a:spcPct val="0"/>
              </a:spcBef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Real-world engineering tasks rarely have enough labeled data.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2008" y="7232835"/>
            <a:ext cx="5068485" cy="138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3"/>
              </a:lnSpc>
              <a:spcBef>
                <a:spcPct val="0"/>
              </a:spcBef>
            </a:pPr>
            <a:r>
              <a:rPr lang="en-US" sz="38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Introduction</a:t>
            </a:r>
            <a:r>
              <a:rPr lang="en-US" sz="38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to Transfer learning in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6884927"/>
            <a:ext cx="2455061" cy="2567384"/>
          </a:xfrm>
          <a:custGeom>
            <a:avLst/>
            <a:gdLst/>
            <a:ahLst/>
            <a:cxnLst/>
            <a:rect r="r" b="b" t="t" l="l"/>
            <a:pathLst>
              <a:path h="2567384" w="2455061">
                <a:moveTo>
                  <a:pt x="0" y="0"/>
                </a:moveTo>
                <a:lnTo>
                  <a:pt x="2455061" y="0"/>
                </a:lnTo>
                <a:lnTo>
                  <a:pt x="2455061" y="2567384"/>
                </a:lnTo>
                <a:lnTo>
                  <a:pt x="0" y="25673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0374" y="1934980"/>
            <a:ext cx="6114204" cy="233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5"/>
              </a:lnSpc>
            </a:pPr>
            <a:r>
              <a:rPr lang="en-US" sz="5472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What is</a:t>
            </a:r>
          </a:p>
          <a:p>
            <a:pPr algn="l">
              <a:lnSpc>
                <a:spcPts val="5855"/>
              </a:lnSpc>
            </a:pPr>
            <a:r>
              <a:rPr lang="en-US" sz="5472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 Learning in AI 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97421" y="-175738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15472" y="572564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799252">
            <a:off x="9812272" y="-3504314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65283" y="1954030"/>
            <a:ext cx="6994017" cy="699401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37527" t="0" r="-3752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6469" y="7160733"/>
            <a:ext cx="6420670" cy="1666137"/>
            <a:chOff x="0" y="0"/>
            <a:chExt cx="1691041" cy="4388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1041" cy="438818"/>
            </a:xfrm>
            <a:custGeom>
              <a:avLst/>
              <a:gdLst/>
              <a:ahLst/>
              <a:cxnLst/>
              <a:rect r="r" b="b" t="t" l="l"/>
              <a:pathLst>
                <a:path h="438818" w="1691041">
                  <a:moveTo>
                    <a:pt x="61495" y="0"/>
                  </a:moveTo>
                  <a:lnTo>
                    <a:pt x="1629546" y="0"/>
                  </a:lnTo>
                  <a:cubicBezTo>
                    <a:pt x="1663508" y="0"/>
                    <a:pt x="1691041" y="27532"/>
                    <a:pt x="1691041" y="61495"/>
                  </a:cubicBezTo>
                  <a:lnTo>
                    <a:pt x="1691041" y="377323"/>
                  </a:lnTo>
                  <a:cubicBezTo>
                    <a:pt x="1691041" y="393633"/>
                    <a:pt x="1684562" y="409274"/>
                    <a:pt x="1673029" y="420807"/>
                  </a:cubicBezTo>
                  <a:cubicBezTo>
                    <a:pt x="1661497" y="432339"/>
                    <a:pt x="1645855" y="438818"/>
                    <a:pt x="1629546" y="438818"/>
                  </a:cubicBezTo>
                  <a:lnTo>
                    <a:pt x="61495" y="438818"/>
                  </a:lnTo>
                  <a:cubicBezTo>
                    <a:pt x="45185" y="438818"/>
                    <a:pt x="29544" y="432339"/>
                    <a:pt x="18011" y="420807"/>
                  </a:cubicBezTo>
                  <a:cubicBezTo>
                    <a:pt x="6479" y="409274"/>
                    <a:pt x="0" y="393633"/>
                    <a:pt x="0" y="377323"/>
                  </a:cubicBezTo>
                  <a:lnTo>
                    <a:pt x="0" y="61495"/>
                  </a:lnTo>
                  <a:cubicBezTo>
                    <a:pt x="0" y="45185"/>
                    <a:pt x="6479" y="29544"/>
                    <a:pt x="18011" y="18011"/>
                  </a:cubicBezTo>
                  <a:cubicBezTo>
                    <a:pt x="29544" y="6479"/>
                    <a:pt x="45185" y="0"/>
                    <a:pt x="61495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691041" cy="534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62008" y="7232835"/>
            <a:ext cx="5068485" cy="138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3"/>
              </a:lnSpc>
              <a:spcBef>
                <a:spcPct val="0"/>
              </a:spcBef>
            </a:pPr>
            <a:r>
              <a:rPr lang="en-US" sz="38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Introduction</a:t>
            </a:r>
            <a:r>
              <a:rPr lang="en-US" sz="38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to Transfer learning in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44000" y="6884927"/>
            <a:ext cx="2455061" cy="2567384"/>
          </a:xfrm>
          <a:custGeom>
            <a:avLst/>
            <a:gdLst/>
            <a:ahLst/>
            <a:cxnLst/>
            <a:rect r="r" b="b" t="t" l="l"/>
            <a:pathLst>
              <a:path h="2567384" w="2455061">
                <a:moveTo>
                  <a:pt x="0" y="0"/>
                </a:moveTo>
                <a:lnTo>
                  <a:pt x="2455061" y="0"/>
                </a:lnTo>
                <a:lnTo>
                  <a:pt x="2455061" y="2567384"/>
                </a:lnTo>
                <a:lnTo>
                  <a:pt x="0" y="25673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97588" y="4535453"/>
            <a:ext cx="7473402" cy="24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332" indent="-249166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Reusing knowledge from a solved task to accelerate a new one. </a:t>
            </a:r>
          </a:p>
          <a:p>
            <a:pPr algn="l" marL="498332" indent="-249166" lvl="1">
              <a:lnSpc>
                <a:spcPts val="3231"/>
              </a:lnSpc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Adapts pre-trained models using minimal new data. </a:t>
            </a:r>
          </a:p>
          <a:p>
            <a:pPr algn="l" marL="498332" indent="-249166" lvl="1">
              <a:lnSpc>
                <a:spcPts val="3231"/>
              </a:lnSpc>
              <a:spcBef>
                <a:spcPct val="0"/>
              </a:spcBef>
              <a:buFont typeface="Arial"/>
              <a:buChar char="•"/>
            </a:pPr>
            <a:r>
              <a:rPr lang="en-US" sz="2308">
                <a:solidFill>
                  <a:srgbClr val="FFFFFF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Analogy: Piano skills transfer to learning the organ much faster.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1971" y="1951497"/>
            <a:ext cx="13892356" cy="124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What is Being Transferred?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39838" y="7163209"/>
            <a:ext cx="4103860" cy="1621663"/>
            <a:chOff x="0" y="0"/>
            <a:chExt cx="1080852" cy="4271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0852" cy="427105"/>
            </a:xfrm>
            <a:custGeom>
              <a:avLst/>
              <a:gdLst/>
              <a:ahLst/>
              <a:cxnLst/>
              <a:rect r="r" b="b" t="t" l="l"/>
              <a:pathLst>
                <a:path h="427105" w="1080852">
                  <a:moveTo>
                    <a:pt x="96211" y="0"/>
                  </a:moveTo>
                  <a:lnTo>
                    <a:pt x="984641" y="0"/>
                  </a:lnTo>
                  <a:cubicBezTo>
                    <a:pt x="1037777" y="0"/>
                    <a:pt x="1080852" y="43075"/>
                    <a:pt x="1080852" y="96211"/>
                  </a:cubicBezTo>
                  <a:lnTo>
                    <a:pt x="1080852" y="330893"/>
                  </a:lnTo>
                  <a:cubicBezTo>
                    <a:pt x="1080852" y="356410"/>
                    <a:pt x="1070716" y="380882"/>
                    <a:pt x="1052672" y="398925"/>
                  </a:cubicBezTo>
                  <a:cubicBezTo>
                    <a:pt x="1034629" y="416968"/>
                    <a:pt x="1010158" y="427105"/>
                    <a:pt x="984641" y="427105"/>
                  </a:cubicBezTo>
                  <a:lnTo>
                    <a:pt x="96211" y="427105"/>
                  </a:lnTo>
                  <a:cubicBezTo>
                    <a:pt x="43075" y="427105"/>
                    <a:pt x="0" y="384029"/>
                    <a:pt x="0" y="330893"/>
                  </a:cubicBezTo>
                  <a:lnTo>
                    <a:pt x="0" y="96211"/>
                  </a:lnTo>
                  <a:cubicBezTo>
                    <a:pt x="0" y="43075"/>
                    <a:pt x="43075" y="0"/>
                    <a:pt x="96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080852" cy="52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41322" y="7163209"/>
            <a:ext cx="4206840" cy="1621663"/>
            <a:chOff x="0" y="0"/>
            <a:chExt cx="1107974" cy="4271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7974" cy="427105"/>
            </a:xfrm>
            <a:custGeom>
              <a:avLst/>
              <a:gdLst/>
              <a:ahLst/>
              <a:cxnLst/>
              <a:rect r="r" b="b" t="t" l="l"/>
              <a:pathLst>
                <a:path h="427105" w="1107974">
                  <a:moveTo>
                    <a:pt x="93856" y="0"/>
                  </a:moveTo>
                  <a:lnTo>
                    <a:pt x="1014118" y="0"/>
                  </a:lnTo>
                  <a:cubicBezTo>
                    <a:pt x="1039010" y="0"/>
                    <a:pt x="1062883" y="9888"/>
                    <a:pt x="1080485" y="27490"/>
                  </a:cubicBezTo>
                  <a:cubicBezTo>
                    <a:pt x="1098086" y="45091"/>
                    <a:pt x="1107974" y="68964"/>
                    <a:pt x="1107974" y="93856"/>
                  </a:cubicBezTo>
                  <a:lnTo>
                    <a:pt x="1107974" y="333249"/>
                  </a:lnTo>
                  <a:cubicBezTo>
                    <a:pt x="1107974" y="358141"/>
                    <a:pt x="1098086" y="382013"/>
                    <a:pt x="1080485" y="399615"/>
                  </a:cubicBezTo>
                  <a:cubicBezTo>
                    <a:pt x="1062883" y="417216"/>
                    <a:pt x="1039010" y="427105"/>
                    <a:pt x="1014118" y="427105"/>
                  </a:cubicBezTo>
                  <a:lnTo>
                    <a:pt x="93856" y="427105"/>
                  </a:lnTo>
                  <a:cubicBezTo>
                    <a:pt x="68964" y="427105"/>
                    <a:pt x="45091" y="417216"/>
                    <a:pt x="27490" y="399615"/>
                  </a:cubicBezTo>
                  <a:cubicBezTo>
                    <a:pt x="9888" y="382013"/>
                    <a:pt x="0" y="358141"/>
                    <a:pt x="0" y="333249"/>
                  </a:cubicBezTo>
                  <a:lnTo>
                    <a:pt x="0" y="93856"/>
                  </a:lnTo>
                  <a:cubicBezTo>
                    <a:pt x="0" y="68964"/>
                    <a:pt x="9888" y="45091"/>
                    <a:pt x="27490" y="27490"/>
                  </a:cubicBezTo>
                  <a:cubicBezTo>
                    <a:pt x="45091" y="9888"/>
                    <a:pt x="68964" y="0"/>
                    <a:pt x="93856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107974" cy="52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86757" y="7163209"/>
            <a:ext cx="4206840" cy="1621663"/>
            <a:chOff x="0" y="0"/>
            <a:chExt cx="1107974" cy="4271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974" cy="427105"/>
            </a:xfrm>
            <a:custGeom>
              <a:avLst/>
              <a:gdLst/>
              <a:ahLst/>
              <a:cxnLst/>
              <a:rect r="r" b="b" t="t" l="l"/>
              <a:pathLst>
                <a:path h="427105" w="1107974">
                  <a:moveTo>
                    <a:pt x="93856" y="0"/>
                  </a:moveTo>
                  <a:lnTo>
                    <a:pt x="1014118" y="0"/>
                  </a:lnTo>
                  <a:cubicBezTo>
                    <a:pt x="1039010" y="0"/>
                    <a:pt x="1062883" y="9888"/>
                    <a:pt x="1080485" y="27490"/>
                  </a:cubicBezTo>
                  <a:cubicBezTo>
                    <a:pt x="1098086" y="45091"/>
                    <a:pt x="1107974" y="68964"/>
                    <a:pt x="1107974" y="93856"/>
                  </a:cubicBezTo>
                  <a:lnTo>
                    <a:pt x="1107974" y="333249"/>
                  </a:lnTo>
                  <a:cubicBezTo>
                    <a:pt x="1107974" y="358141"/>
                    <a:pt x="1098086" y="382013"/>
                    <a:pt x="1080485" y="399615"/>
                  </a:cubicBezTo>
                  <a:cubicBezTo>
                    <a:pt x="1062883" y="417216"/>
                    <a:pt x="1039010" y="427105"/>
                    <a:pt x="1014118" y="427105"/>
                  </a:cubicBezTo>
                  <a:lnTo>
                    <a:pt x="93856" y="427105"/>
                  </a:lnTo>
                  <a:cubicBezTo>
                    <a:pt x="68964" y="427105"/>
                    <a:pt x="45091" y="417216"/>
                    <a:pt x="27490" y="399615"/>
                  </a:cubicBezTo>
                  <a:cubicBezTo>
                    <a:pt x="9888" y="382013"/>
                    <a:pt x="0" y="358141"/>
                    <a:pt x="0" y="333249"/>
                  </a:cubicBezTo>
                  <a:lnTo>
                    <a:pt x="0" y="93856"/>
                  </a:lnTo>
                  <a:cubicBezTo>
                    <a:pt x="0" y="68964"/>
                    <a:pt x="9888" y="45091"/>
                    <a:pt x="27490" y="27490"/>
                  </a:cubicBezTo>
                  <a:cubicBezTo>
                    <a:pt x="45091" y="9888"/>
                    <a:pt x="68964" y="0"/>
                    <a:pt x="93856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107974" cy="52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82095" y="7271400"/>
            <a:ext cx="3219346" cy="133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sz="2744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Target datasets are small or expensive.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97421" y="-175738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4489728" y="2925012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605027">
            <a:off x="12427935" y="-3569814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1" y="0"/>
                </a:lnTo>
                <a:lnTo>
                  <a:pt x="4986241" y="9424169"/>
                </a:lnTo>
                <a:lnTo>
                  <a:pt x="0" y="9424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930061" y="8541523"/>
            <a:ext cx="3338225" cy="3490954"/>
          </a:xfrm>
          <a:custGeom>
            <a:avLst/>
            <a:gdLst/>
            <a:ahLst/>
            <a:cxnLst/>
            <a:rect r="r" b="b" t="t" l="l"/>
            <a:pathLst>
              <a:path h="3490954" w="3338225">
                <a:moveTo>
                  <a:pt x="0" y="0"/>
                </a:moveTo>
                <a:lnTo>
                  <a:pt x="3338225" y="0"/>
                </a:lnTo>
                <a:lnTo>
                  <a:pt x="3338225" y="3490954"/>
                </a:lnTo>
                <a:lnTo>
                  <a:pt x="0" y="34909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44974" y="6450218"/>
            <a:ext cx="1028651" cy="1075714"/>
          </a:xfrm>
          <a:custGeom>
            <a:avLst/>
            <a:gdLst/>
            <a:ahLst/>
            <a:cxnLst/>
            <a:rect r="r" b="b" t="t" l="l"/>
            <a:pathLst>
              <a:path h="1075714" w="1028651">
                <a:moveTo>
                  <a:pt x="0" y="0"/>
                </a:moveTo>
                <a:lnTo>
                  <a:pt x="1028652" y="0"/>
                </a:lnTo>
                <a:lnTo>
                  <a:pt x="1028652" y="1075714"/>
                </a:lnTo>
                <a:lnTo>
                  <a:pt x="0" y="1075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794808" y="6387932"/>
            <a:ext cx="648804" cy="600144"/>
          </a:xfrm>
          <a:custGeom>
            <a:avLst/>
            <a:gdLst/>
            <a:ahLst/>
            <a:cxnLst/>
            <a:rect r="r" b="b" t="t" l="l"/>
            <a:pathLst>
              <a:path h="600144" w="648804">
                <a:moveTo>
                  <a:pt x="0" y="0"/>
                </a:moveTo>
                <a:lnTo>
                  <a:pt x="648804" y="0"/>
                </a:lnTo>
                <a:lnTo>
                  <a:pt x="648804" y="600143"/>
                </a:lnTo>
                <a:lnTo>
                  <a:pt x="0" y="600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09250" y="6268901"/>
            <a:ext cx="561855" cy="719175"/>
          </a:xfrm>
          <a:custGeom>
            <a:avLst/>
            <a:gdLst/>
            <a:ahLst/>
            <a:cxnLst/>
            <a:rect r="r" b="b" t="t" l="l"/>
            <a:pathLst>
              <a:path h="719175" w="561855">
                <a:moveTo>
                  <a:pt x="0" y="0"/>
                </a:moveTo>
                <a:lnTo>
                  <a:pt x="561855" y="0"/>
                </a:lnTo>
                <a:lnTo>
                  <a:pt x="561855" y="719174"/>
                </a:lnTo>
                <a:lnTo>
                  <a:pt x="0" y="719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12359" y="6268901"/>
            <a:ext cx="464767" cy="719175"/>
          </a:xfrm>
          <a:custGeom>
            <a:avLst/>
            <a:gdLst/>
            <a:ahLst/>
            <a:cxnLst/>
            <a:rect r="r" b="b" t="t" l="l"/>
            <a:pathLst>
              <a:path h="719175" w="464767">
                <a:moveTo>
                  <a:pt x="0" y="0"/>
                </a:moveTo>
                <a:lnTo>
                  <a:pt x="464766" y="0"/>
                </a:lnTo>
                <a:lnTo>
                  <a:pt x="464766" y="719174"/>
                </a:lnTo>
                <a:lnTo>
                  <a:pt x="0" y="719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330856" y="7485712"/>
            <a:ext cx="3627772" cy="90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3"/>
              </a:lnSpc>
              <a:spcBef>
                <a:spcPct val="0"/>
              </a:spcBef>
            </a:pPr>
            <a:r>
              <a:rPr lang="en-US" b="true" sz="27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urce a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nd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ta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rg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 a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el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99945" y="7477534"/>
            <a:ext cx="3380464" cy="90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3"/>
              </a:lnSpc>
              <a:spcBef>
                <a:spcPct val="0"/>
              </a:spcBef>
            </a:pPr>
            <a:r>
              <a:rPr lang="en-US" b="true" sz="27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 bud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ts a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st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ctly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l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imit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19210" y="5074198"/>
            <a:ext cx="9237878" cy="124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When to Use It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1541" y="3540541"/>
            <a:ext cx="11552777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Transferred: Features (edges, shapes), model weights, and early layer patterns.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46058" y="2341168"/>
            <a:ext cx="4985156" cy="132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3"/>
              </a:lnSpc>
            </a:pPr>
            <a:r>
              <a:rPr lang="en-US" sz="8442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94516" y="671017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767432">
            <a:off x="13656914" y="-3585618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767432">
            <a:off x="15261933" y="6333348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89719" y="1126466"/>
            <a:ext cx="1108562" cy="1159281"/>
          </a:xfrm>
          <a:custGeom>
            <a:avLst/>
            <a:gdLst/>
            <a:ahLst/>
            <a:cxnLst/>
            <a:rect r="r" b="b" t="t" l="l"/>
            <a:pathLst>
              <a:path h="1159281" w="1108562">
                <a:moveTo>
                  <a:pt x="0" y="0"/>
                </a:moveTo>
                <a:lnTo>
                  <a:pt x="1108562" y="0"/>
                </a:lnTo>
                <a:lnTo>
                  <a:pt x="1108562" y="1159281"/>
                </a:lnTo>
                <a:lnTo>
                  <a:pt x="0" y="1159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33749" y="5426871"/>
            <a:ext cx="13811329" cy="2566605"/>
          </a:xfrm>
          <a:custGeom>
            <a:avLst/>
            <a:gdLst/>
            <a:ahLst/>
            <a:cxnLst/>
            <a:rect r="r" b="b" t="t" l="l"/>
            <a:pathLst>
              <a:path h="2566605" w="13811329">
                <a:moveTo>
                  <a:pt x="0" y="0"/>
                </a:moveTo>
                <a:lnTo>
                  <a:pt x="13811329" y="0"/>
                </a:lnTo>
                <a:lnTo>
                  <a:pt x="13811329" y="2566605"/>
                </a:lnTo>
                <a:lnTo>
                  <a:pt x="0" y="25666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82627" y="2341168"/>
            <a:ext cx="6893172" cy="132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33"/>
              </a:lnSpc>
            </a:pPr>
            <a:r>
              <a:rPr lang="en-US" sz="8442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Timeline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82627" y="8294271"/>
            <a:ext cx="3334829" cy="127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1993: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theoretical birth: Pratt formally introduces "Transfer Learning" to neural networks.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3734" y="3691787"/>
            <a:ext cx="3407648" cy="159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2010: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The math is standardized: Pan &amp; Yang publish the landmark survey defining the modern taxonomy.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58957" y="8274480"/>
            <a:ext cx="3736292" cy="127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2012: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Vision Revolution: AlexNet proves pre-trained CNNs can act as universal feature extractors.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57349" y="3639991"/>
            <a:ext cx="3668181" cy="159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2013: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NLP’s first step: Word2Vec is introduced, allowing semantic meaning to be transferred across text.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36750" y="8117301"/>
            <a:ext cx="3312321" cy="159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2018: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The "BERT Moment": Transformers make massive pre-training and fine-tuning the gold standard.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8636" y="3639991"/>
            <a:ext cx="3668819" cy="159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2020: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Zero-Shot Era: GPT-3 proves foundation models can transfer knowledge through prompts alone.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1700" y="4372396"/>
            <a:ext cx="3941384" cy="4003130"/>
            <a:chOff x="0" y="0"/>
            <a:chExt cx="1038060" cy="1054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060" cy="1054322"/>
            </a:xfrm>
            <a:custGeom>
              <a:avLst/>
              <a:gdLst/>
              <a:ahLst/>
              <a:cxnLst/>
              <a:rect r="r" b="b" t="t" l="l"/>
              <a:pathLst>
                <a:path h="1054322" w="1038060">
                  <a:moveTo>
                    <a:pt x="100177" y="0"/>
                  </a:moveTo>
                  <a:lnTo>
                    <a:pt x="937883" y="0"/>
                  </a:lnTo>
                  <a:cubicBezTo>
                    <a:pt x="964451" y="0"/>
                    <a:pt x="989932" y="10554"/>
                    <a:pt x="1008719" y="29341"/>
                  </a:cubicBezTo>
                  <a:cubicBezTo>
                    <a:pt x="1027506" y="48128"/>
                    <a:pt x="1038060" y="73609"/>
                    <a:pt x="1038060" y="100177"/>
                  </a:cubicBezTo>
                  <a:lnTo>
                    <a:pt x="1038060" y="954145"/>
                  </a:lnTo>
                  <a:cubicBezTo>
                    <a:pt x="1038060" y="980714"/>
                    <a:pt x="1027506" y="1006194"/>
                    <a:pt x="1008719" y="1024981"/>
                  </a:cubicBezTo>
                  <a:cubicBezTo>
                    <a:pt x="989932" y="1043768"/>
                    <a:pt x="964451" y="1054322"/>
                    <a:pt x="937883" y="1054322"/>
                  </a:cubicBezTo>
                  <a:lnTo>
                    <a:pt x="100177" y="1054322"/>
                  </a:lnTo>
                  <a:cubicBezTo>
                    <a:pt x="73609" y="1054322"/>
                    <a:pt x="48128" y="1043768"/>
                    <a:pt x="29341" y="1024981"/>
                  </a:cubicBezTo>
                  <a:cubicBezTo>
                    <a:pt x="10554" y="1006194"/>
                    <a:pt x="0" y="980714"/>
                    <a:pt x="0" y="954145"/>
                  </a:cubicBezTo>
                  <a:lnTo>
                    <a:pt x="0" y="100177"/>
                  </a:lnTo>
                  <a:cubicBezTo>
                    <a:pt x="0" y="73609"/>
                    <a:pt x="10554" y="48128"/>
                    <a:pt x="29341" y="29341"/>
                  </a:cubicBezTo>
                  <a:cubicBezTo>
                    <a:pt x="48128" y="10554"/>
                    <a:pt x="73609" y="0"/>
                    <a:pt x="10017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038060" cy="1149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3775882" y="3874427"/>
            <a:ext cx="694920" cy="892353"/>
          </a:xfrm>
          <a:custGeom>
            <a:avLst/>
            <a:gdLst/>
            <a:ahLst/>
            <a:cxnLst/>
            <a:rect r="r" b="b" t="t" l="l"/>
            <a:pathLst>
              <a:path h="892353" w="694920">
                <a:moveTo>
                  <a:pt x="0" y="0"/>
                </a:moveTo>
                <a:lnTo>
                  <a:pt x="694920" y="0"/>
                </a:lnTo>
                <a:lnTo>
                  <a:pt x="694920" y="892353"/>
                </a:lnTo>
                <a:lnTo>
                  <a:pt x="0" y="892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856043" y="4372396"/>
            <a:ext cx="3941384" cy="4003130"/>
            <a:chOff x="0" y="0"/>
            <a:chExt cx="1038060" cy="10543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8060" cy="1054322"/>
            </a:xfrm>
            <a:custGeom>
              <a:avLst/>
              <a:gdLst/>
              <a:ahLst/>
              <a:cxnLst/>
              <a:rect r="r" b="b" t="t" l="l"/>
              <a:pathLst>
                <a:path h="1054322" w="1038060">
                  <a:moveTo>
                    <a:pt x="100177" y="0"/>
                  </a:moveTo>
                  <a:lnTo>
                    <a:pt x="937883" y="0"/>
                  </a:lnTo>
                  <a:cubicBezTo>
                    <a:pt x="964451" y="0"/>
                    <a:pt x="989932" y="10554"/>
                    <a:pt x="1008719" y="29341"/>
                  </a:cubicBezTo>
                  <a:cubicBezTo>
                    <a:pt x="1027506" y="48128"/>
                    <a:pt x="1038060" y="73609"/>
                    <a:pt x="1038060" y="100177"/>
                  </a:cubicBezTo>
                  <a:lnTo>
                    <a:pt x="1038060" y="954145"/>
                  </a:lnTo>
                  <a:cubicBezTo>
                    <a:pt x="1038060" y="980714"/>
                    <a:pt x="1027506" y="1006194"/>
                    <a:pt x="1008719" y="1024981"/>
                  </a:cubicBezTo>
                  <a:cubicBezTo>
                    <a:pt x="989932" y="1043768"/>
                    <a:pt x="964451" y="1054322"/>
                    <a:pt x="937883" y="1054322"/>
                  </a:cubicBezTo>
                  <a:lnTo>
                    <a:pt x="100177" y="1054322"/>
                  </a:lnTo>
                  <a:cubicBezTo>
                    <a:pt x="73609" y="1054322"/>
                    <a:pt x="48128" y="1043768"/>
                    <a:pt x="29341" y="1024981"/>
                  </a:cubicBezTo>
                  <a:cubicBezTo>
                    <a:pt x="10554" y="1006194"/>
                    <a:pt x="0" y="980714"/>
                    <a:pt x="0" y="954145"/>
                  </a:cubicBezTo>
                  <a:lnTo>
                    <a:pt x="0" y="100177"/>
                  </a:lnTo>
                  <a:cubicBezTo>
                    <a:pt x="0" y="73609"/>
                    <a:pt x="10554" y="48128"/>
                    <a:pt x="29341" y="29341"/>
                  </a:cubicBezTo>
                  <a:cubicBezTo>
                    <a:pt x="48128" y="10554"/>
                    <a:pt x="73609" y="0"/>
                    <a:pt x="10017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038060" cy="1149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393751" y="4136377"/>
            <a:ext cx="865969" cy="528241"/>
          </a:xfrm>
          <a:custGeom>
            <a:avLst/>
            <a:gdLst/>
            <a:ahLst/>
            <a:cxnLst/>
            <a:rect r="r" b="b" t="t" l="l"/>
            <a:pathLst>
              <a:path h="528241" w="865969">
                <a:moveTo>
                  <a:pt x="0" y="0"/>
                </a:moveTo>
                <a:lnTo>
                  <a:pt x="865969" y="0"/>
                </a:lnTo>
                <a:lnTo>
                  <a:pt x="865969" y="528241"/>
                </a:lnTo>
                <a:lnTo>
                  <a:pt x="0" y="52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594456" y="4372396"/>
            <a:ext cx="3941384" cy="4003130"/>
            <a:chOff x="0" y="0"/>
            <a:chExt cx="1038060" cy="1054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060" cy="1054322"/>
            </a:xfrm>
            <a:custGeom>
              <a:avLst/>
              <a:gdLst/>
              <a:ahLst/>
              <a:cxnLst/>
              <a:rect r="r" b="b" t="t" l="l"/>
              <a:pathLst>
                <a:path h="1054322" w="1038060">
                  <a:moveTo>
                    <a:pt x="100177" y="0"/>
                  </a:moveTo>
                  <a:lnTo>
                    <a:pt x="937883" y="0"/>
                  </a:lnTo>
                  <a:cubicBezTo>
                    <a:pt x="964451" y="0"/>
                    <a:pt x="989932" y="10554"/>
                    <a:pt x="1008719" y="29341"/>
                  </a:cubicBezTo>
                  <a:cubicBezTo>
                    <a:pt x="1027506" y="48128"/>
                    <a:pt x="1038060" y="73609"/>
                    <a:pt x="1038060" y="100177"/>
                  </a:cubicBezTo>
                  <a:lnTo>
                    <a:pt x="1038060" y="954145"/>
                  </a:lnTo>
                  <a:cubicBezTo>
                    <a:pt x="1038060" y="980714"/>
                    <a:pt x="1027506" y="1006194"/>
                    <a:pt x="1008719" y="1024981"/>
                  </a:cubicBezTo>
                  <a:cubicBezTo>
                    <a:pt x="989932" y="1043768"/>
                    <a:pt x="964451" y="1054322"/>
                    <a:pt x="937883" y="1054322"/>
                  </a:cubicBezTo>
                  <a:lnTo>
                    <a:pt x="100177" y="1054322"/>
                  </a:lnTo>
                  <a:cubicBezTo>
                    <a:pt x="73609" y="1054322"/>
                    <a:pt x="48128" y="1043768"/>
                    <a:pt x="29341" y="1024981"/>
                  </a:cubicBezTo>
                  <a:cubicBezTo>
                    <a:pt x="10554" y="1006194"/>
                    <a:pt x="0" y="980714"/>
                    <a:pt x="0" y="954145"/>
                  </a:cubicBezTo>
                  <a:lnTo>
                    <a:pt x="0" y="100177"/>
                  </a:lnTo>
                  <a:cubicBezTo>
                    <a:pt x="0" y="73609"/>
                    <a:pt x="10554" y="48128"/>
                    <a:pt x="29341" y="29341"/>
                  </a:cubicBezTo>
                  <a:cubicBezTo>
                    <a:pt x="48128" y="10554"/>
                    <a:pt x="73609" y="0"/>
                    <a:pt x="10017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038060" cy="1149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239865" y="4048739"/>
            <a:ext cx="650566" cy="647314"/>
          </a:xfrm>
          <a:custGeom>
            <a:avLst/>
            <a:gdLst/>
            <a:ahLst/>
            <a:cxnLst/>
            <a:rect r="r" b="b" t="t" l="l"/>
            <a:pathLst>
              <a:path h="647314" w="650566">
                <a:moveTo>
                  <a:pt x="0" y="0"/>
                </a:moveTo>
                <a:lnTo>
                  <a:pt x="650566" y="0"/>
                </a:lnTo>
                <a:lnTo>
                  <a:pt x="650566" y="647313"/>
                </a:lnTo>
                <a:lnTo>
                  <a:pt x="0" y="647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60175" y="6544503"/>
            <a:ext cx="1364434" cy="1364434"/>
          </a:xfrm>
          <a:custGeom>
            <a:avLst/>
            <a:gdLst/>
            <a:ahLst/>
            <a:cxnLst/>
            <a:rect r="r" b="b" t="t" l="l"/>
            <a:pathLst>
              <a:path h="1364434" w="1364434">
                <a:moveTo>
                  <a:pt x="0" y="0"/>
                </a:moveTo>
                <a:lnTo>
                  <a:pt x="1364434" y="0"/>
                </a:lnTo>
                <a:lnTo>
                  <a:pt x="1364434" y="1364434"/>
                </a:lnTo>
                <a:lnTo>
                  <a:pt x="0" y="1364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23554" y="6713575"/>
            <a:ext cx="1483188" cy="1236608"/>
          </a:xfrm>
          <a:custGeom>
            <a:avLst/>
            <a:gdLst/>
            <a:ahLst/>
            <a:cxnLst/>
            <a:rect r="r" b="b" t="t" l="l"/>
            <a:pathLst>
              <a:path h="1236608" w="1483188">
                <a:moveTo>
                  <a:pt x="0" y="0"/>
                </a:moveTo>
                <a:lnTo>
                  <a:pt x="1483188" y="0"/>
                </a:lnTo>
                <a:lnTo>
                  <a:pt x="1483188" y="1236608"/>
                </a:lnTo>
                <a:lnTo>
                  <a:pt x="0" y="1236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10407" y="6554837"/>
            <a:ext cx="1186530" cy="1354100"/>
          </a:xfrm>
          <a:custGeom>
            <a:avLst/>
            <a:gdLst/>
            <a:ahLst/>
            <a:cxnLst/>
            <a:rect r="r" b="b" t="t" l="l"/>
            <a:pathLst>
              <a:path h="1354100" w="1186530">
                <a:moveTo>
                  <a:pt x="0" y="0"/>
                </a:moveTo>
                <a:lnTo>
                  <a:pt x="1186530" y="0"/>
                </a:lnTo>
                <a:lnTo>
                  <a:pt x="1186530" y="1354100"/>
                </a:lnTo>
                <a:lnTo>
                  <a:pt x="0" y="13541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99534" y="2440280"/>
            <a:ext cx="6604138" cy="112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03"/>
              </a:lnSpc>
            </a:pPr>
            <a:r>
              <a:rPr lang="en-US" sz="7199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Importance of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19802" y="2445689"/>
            <a:ext cx="7789967" cy="112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3"/>
              </a:lnSpc>
            </a:pPr>
            <a:r>
              <a:rPr lang="en-US" sz="7199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 Learning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08411" y="4806517"/>
            <a:ext cx="3168878" cy="13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~10x Less Data: drastically reduces labeling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needs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48113" y="4704738"/>
            <a:ext cx="3411934" cy="174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3-5x Faster Deployment: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accelerates engineering cycles.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04724" y="4704738"/>
            <a:ext cx="2320849" cy="174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~70% Compute Savings: slashes GPU t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raining costs.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6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378553" y="-2148351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2020741" y="757318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157965">
            <a:off x="8166926" y="-5071179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1" y="0"/>
                </a:lnTo>
                <a:lnTo>
                  <a:pt x="4986241" y="9424169"/>
                </a:lnTo>
                <a:lnTo>
                  <a:pt x="0" y="942416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791213" y="8093090"/>
            <a:ext cx="1372160" cy="1434938"/>
          </a:xfrm>
          <a:custGeom>
            <a:avLst/>
            <a:gdLst/>
            <a:ahLst/>
            <a:cxnLst/>
            <a:rect r="r" b="b" t="t" l="l"/>
            <a:pathLst>
              <a:path h="1434938" w="1372160">
                <a:moveTo>
                  <a:pt x="0" y="0"/>
                </a:moveTo>
                <a:lnTo>
                  <a:pt x="1372160" y="0"/>
                </a:lnTo>
                <a:lnTo>
                  <a:pt x="1372160" y="1434938"/>
                </a:lnTo>
                <a:lnTo>
                  <a:pt x="0" y="143493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6641" y="3045821"/>
            <a:ext cx="6372017" cy="1919424"/>
            <a:chOff x="0" y="0"/>
            <a:chExt cx="1396721" cy="420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6720" cy="420730"/>
            </a:xfrm>
            <a:custGeom>
              <a:avLst/>
              <a:gdLst/>
              <a:ahLst/>
              <a:cxnLst/>
              <a:rect r="r" b="b" t="t" l="l"/>
              <a:pathLst>
                <a:path h="420730" w="1396720">
                  <a:moveTo>
                    <a:pt x="61964" y="0"/>
                  </a:moveTo>
                  <a:lnTo>
                    <a:pt x="1334756" y="0"/>
                  </a:lnTo>
                  <a:cubicBezTo>
                    <a:pt x="1351190" y="0"/>
                    <a:pt x="1366951" y="6528"/>
                    <a:pt x="1378572" y="18149"/>
                  </a:cubicBezTo>
                  <a:cubicBezTo>
                    <a:pt x="1390192" y="29770"/>
                    <a:pt x="1396720" y="45530"/>
                    <a:pt x="1396720" y="61964"/>
                  </a:cubicBezTo>
                  <a:lnTo>
                    <a:pt x="1396720" y="358766"/>
                  </a:lnTo>
                  <a:cubicBezTo>
                    <a:pt x="1396720" y="375200"/>
                    <a:pt x="1390192" y="390961"/>
                    <a:pt x="1378572" y="402581"/>
                  </a:cubicBezTo>
                  <a:cubicBezTo>
                    <a:pt x="1366951" y="414202"/>
                    <a:pt x="1351190" y="420730"/>
                    <a:pt x="1334756" y="420730"/>
                  </a:cubicBezTo>
                  <a:lnTo>
                    <a:pt x="61964" y="420730"/>
                  </a:lnTo>
                  <a:cubicBezTo>
                    <a:pt x="45530" y="420730"/>
                    <a:pt x="29770" y="414202"/>
                    <a:pt x="18149" y="402581"/>
                  </a:cubicBezTo>
                  <a:cubicBezTo>
                    <a:pt x="6528" y="390961"/>
                    <a:pt x="0" y="375200"/>
                    <a:pt x="0" y="358766"/>
                  </a:cubicBezTo>
                  <a:lnTo>
                    <a:pt x="0" y="61964"/>
                  </a:lnTo>
                  <a:cubicBezTo>
                    <a:pt x="0" y="45530"/>
                    <a:pt x="6528" y="29770"/>
                    <a:pt x="18149" y="18149"/>
                  </a:cubicBezTo>
                  <a:cubicBezTo>
                    <a:pt x="29770" y="6528"/>
                    <a:pt x="45530" y="0"/>
                    <a:pt x="61964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396721" cy="515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59939" y="5100492"/>
            <a:ext cx="6278719" cy="2376803"/>
            <a:chOff x="0" y="0"/>
            <a:chExt cx="1233966" cy="4671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3966" cy="467117"/>
            </a:xfrm>
            <a:custGeom>
              <a:avLst/>
              <a:gdLst/>
              <a:ahLst/>
              <a:cxnLst/>
              <a:rect r="r" b="b" t="t" l="l"/>
              <a:pathLst>
                <a:path h="467117" w="1233966">
                  <a:moveTo>
                    <a:pt x="62885" y="0"/>
                  </a:moveTo>
                  <a:lnTo>
                    <a:pt x="1171081" y="0"/>
                  </a:lnTo>
                  <a:cubicBezTo>
                    <a:pt x="1205812" y="0"/>
                    <a:pt x="1233966" y="28155"/>
                    <a:pt x="1233966" y="62885"/>
                  </a:cubicBezTo>
                  <a:lnTo>
                    <a:pt x="1233966" y="404232"/>
                  </a:lnTo>
                  <a:cubicBezTo>
                    <a:pt x="1233966" y="438962"/>
                    <a:pt x="1205812" y="467117"/>
                    <a:pt x="1171081" y="467117"/>
                  </a:cubicBezTo>
                  <a:lnTo>
                    <a:pt x="62885" y="467117"/>
                  </a:lnTo>
                  <a:cubicBezTo>
                    <a:pt x="28155" y="467117"/>
                    <a:pt x="0" y="438962"/>
                    <a:pt x="0" y="404232"/>
                  </a:cubicBezTo>
                  <a:lnTo>
                    <a:pt x="0" y="62885"/>
                  </a:lnTo>
                  <a:cubicBezTo>
                    <a:pt x="0" y="28155"/>
                    <a:pt x="28155" y="0"/>
                    <a:pt x="62885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233966" cy="562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30203" y="6172200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6960974"/>
            <a:ext cx="8017149" cy="2297326"/>
            <a:chOff x="0" y="0"/>
            <a:chExt cx="1242066" cy="3559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2066" cy="355916"/>
            </a:xfrm>
            <a:custGeom>
              <a:avLst/>
              <a:gdLst/>
              <a:ahLst/>
              <a:cxnLst/>
              <a:rect r="r" b="b" t="t" l="l"/>
              <a:pathLst>
                <a:path h="355916" w="1242066">
                  <a:moveTo>
                    <a:pt x="56975" y="0"/>
                  </a:moveTo>
                  <a:lnTo>
                    <a:pt x="1185092" y="0"/>
                  </a:lnTo>
                  <a:cubicBezTo>
                    <a:pt x="1216558" y="0"/>
                    <a:pt x="1242066" y="25508"/>
                    <a:pt x="1242066" y="56975"/>
                  </a:cubicBezTo>
                  <a:lnTo>
                    <a:pt x="1242066" y="298941"/>
                  </a:lnTo>
                  <a:cubicBezTo>
                    <a:pt x="1242066" y="330408"/>
                    <a:pt x="1216558" y="355916"/>
                    <a:pt x="1185092" y="355916"/>
                  </a:cubicBezTo>
                  <a:lnTo>
                    <a:pt x="56975" y="355916"/>
                  </a:lnTo>
                  <a:cubicBezTo>
                    <a:pt x="25508" y="355916"/>
                    <a:pt x="0" y="330408"/>
                    <a:pt x="0" y="298941"/>
                  </a:cubicBezTo>
                  <a:lnTo>
                    <a:pt x="0" y="56975"/>
                  </a:lnTo>
                  <a:cubicBezTo>
                    <a:pt x="0" y="25508"/>
                    <a:pt x="25508" y="0"/>
                    <a:pt x="5697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6253" r="0" b="-6625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101310"/>
            <a:ext cx="7044662" cy="10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Catastrophic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53657" y="2358769"/>
            <a:ext cx="4966073" cy="55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3"/>
              </a:lnSpc>
              <a:spcBef>
                <a:spcPct val="0"/>
              </a:spcBef>
            </a:pPr>
            <a:r>
              <a:rPr lang="en-US" b="true" sz="3498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Engineering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Solutions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25541" y="3212650"/>
            <a:ext cx="5728666" cy="149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4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Layer Freezing: Disable weight updates entirely</a:t>
            </a:r>
          </a:p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2784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(requires_grad = False).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7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083336" y="-345438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4767432">
            <a:off x="4517937" y="-5103290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238657" y="8627094"/>
            <a:ext cx="2668864" cy="2790969"/>
          </a:xfrm>
          <a:custGeom>
            <a:avLst/>
            <a:gdLst/>
            <a:ahLst/>
            <a:cxnLst/>
            <a:rect r="r" b="b" t="t" l="l"/>
            <a:pathLst>
              <a:path h="2790969" w="2668864">
                <a:moveTo>
                  <a:pt x="0" y="0"/>
                </a:moveTo>
                <a:lnTo>
                  <a:pt x="2668865" y="0"/>
                </a:lnTo>
                <a:lnTo>
                  <a:pt x="2668865" y="2790969"/>
                </a:lnTo>
                <a:lnTo>
                  <a:pt x="0" y="27909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468280" y="6869125"/>
            <a:ext cx="914858" cy="956714"/>
          </a:xfrm>
          <a:custGeom>
            <a:avLst/>
            <a:gdLst/>
            <a:ahLst/>
            <a:cxnLst/>
            <a:rect r="r" b="b" t="t" l="l"/>
            <a:pathLst>
              <a:path h="956714" w="914858">
                <a:moveTo>
                  <a:pt x="0" y="0"/>
                </a:moveTo>
                <a:lnTo>
                  <a:pt x="914857" y="0"/>
                </a:lnTo>
                <a:lnTo>
                  <a:pt x="914857" y="956713"/>
                </a:lnTo>
                <a:lnTo>
                  <a:pt x="0" y="956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83383" y="3036296"/>
            <a:ext cx="7044662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Forgetting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9969" y="4374044"/>
            <a:ext cx="6007341" cy="4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FF7AE6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2425">
                <a:solidFill>
                  <a:srgbClr val="FF7AE6"/>
                </a:solidFill>
                <a:latin typeface="Codec Pro"/>
                <a:ea typeface="Codec Pro"/>
                <a:cs typeface="Codec Pro"/>
                <a:sym typeface="Codec Pro"/>
              </a:rPr>
              <a:t>he Problem: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12677" y="5491168"/>
            <a:ext cx="5448034" cy="149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4"/>
              </a:lnSpc>
            </a:pPr>
            <a:r>
              <a:rPr lang="en-US" sz="27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Differential Learning Rates:</a:t>
            </a:r>
          </a:p>
          <a:p>
            <a:pPr algn="just" marL="589830" indent="-294915" lvl="1">
              <a:lnSpc>
                <a:spcPts val="3824"/>
              </a:lnSpc>
              <a:buFont typeface="Arial"/>
              <a:buChar char="•"/>
            </a:pPr>
            <a:r>
              <a:rPr lang="en-US" sz="27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Base model: Microscopic rate</a:t>
            </a:r>
          </a:p>
          <a:p>
            <a:pPr algn="just" marL="589830" indent="-294915" lvl="1">
              <a:lnSpc>
                <a:spcPts val="3824"/>
              </a:lnSpc>
              <a:spcBef>
                <a:spcPct val="0"/>
              </a:spcBef>
              <a:buFont typeface="Arial"/>
              <a:buChar char="•"/>
            </a:pPr>
            <a:r>
              <a:rPr lang="en-US" sz="273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New head: Standard rate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9969" y="5045868"/>
            <a:ext cx="5887239" cy="174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New training overwrites pre-trained knowledge.</a:t>
            </a:r>
          </a:p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model "forgets" its original foundation.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4238" y="2341168"/>
            <a:ext cx="15197668" cy="131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33"/>
              </a:lnSpc>
            </a:pPr>
            <a:r>
              <a:rPr lang="en-US" sz="8442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How Transfer Learning </a:t>
            </a:r>
            <a:r>
              <a:rPr lang="en-US" sz="8442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Works</a:t>
            </a:r>
            <a:r>
              <a:rPr lang="en-US" sz="8442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83204" y="5597218"/>
            <a:ext cx="4012538" cy="1781866"/>
            <a:chOff x="0" y="0"/>
            <a:chExt cx="1396721" cy="620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17211" y="5597218"/>
            <a:ext cx="4012538" cy="1781866"/>
            <a:chOff x="0" y="0"/>
            <a:chExt cx="1396721" cy="620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38430" y="6075434"/>
            <a:ext cx="2730311" cy="7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Choose a large pre-trained base.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8165" y="5008736"/>
            <a:ext cx="2942616" cy="40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5"/>
              </a:lnSpc>
            </a:pPr>
            <a:r>
              <a:rPr lang="en-US" sz="2647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Select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24690" y="5009355"/>
            <a:ext cx="2864298" cy="40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5"/>
              </a:lnSpc>
              <a:spcBef>
                <a:spcPct val="0"/>
              </a:spcBef>
            </a:pPr>
            <a:r>
              <a:rPr lang="en-US" b="true" sz="26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em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ve 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He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2390" y="4984028"/>
            <a:ext cx="3395281" cy="40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5"/>
              </a:lnSpc>
              <a:spcBef>
                <a:spcPct val="0"/>
              </a:spcBef>
            </a:pPr>
            <a:r>
              <a:rPr lang="en-US" b="true" sz="26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Fre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ze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Ear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8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282649" y="-3319895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994516" y="671017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219167">
            <a:off x="13538643" y="-4096681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4767432">
            <a:off x="9615773" y="6372329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9"/>
                </a:lnTo>
                <a:lnTo>
                  <a:pt x="0" y="9424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51218" y="5597218"/>
            <a:ext cx="4012538" cy="1781866"/>
            <a:chOff x="0" y="0"/>
            <a:chExt cx="1396721" cy="620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589719" y="1126466"/>
            <a:ext cx="1108562" cy="1159281"/>
          </a:xfrm>
          <a:custGeom>
            <a:avLst/>
            <a:gdLst/>
            <a:ahLst/>
            <a:cxnLst/>
            <a:rect r="r" b="b" t="t" l="l"/>
            <a:pathLst>
              <a:path h="1159281" w="1108562">
                <a:moveTo>
                  <a:pt x="0" y="0"/>
                </a:moveTo>
                <a:lnTo>
                  <a:pt x="1108562" y="0"/>
                </a:lnTo>
                <a:lnTo>
                  <a:pt x="1108562" y="1159281"/>
                </a:lnTo>
                <a:lnTo>
                  <a:pt x="0" y="1159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004821" y="5008736"/>
            <a:ext cx="2787413" cy="40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5"/>
              </a:lnSpc>
              <a:spcBef>
                <a:spcPct val="0"/>
              </a:spcBef>
            </a:pPr>
            <a:r>
              <a:rPr lang="en-US" b="true" sz="26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rai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 N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392258" y="5597218"/>
            <a:ext cx="4012538" cy="1781866"/>
            <a:chOff x="0" y="0"/>
            <a:chExt cx="1396721" cy="6202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648956" y="6075434"/>
            <a:ext cx="2749048" cy="7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</a:t>
            </a: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place the final task-specific layer.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51360" y="6075434"/>
            <a:ext cx="3119287" cy="7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Lock in general feature knowledge.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04821" y="6075434"/>
            <a:ext cx="2831680" cy="7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Adapt the new head on target data.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87188"/>
            <a:ext cx="15197668" cy="131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33"/>
              </a:lnSpc>
            </a:pPr>
            <a:r>
              <a:rPr lang="en-US" sz="8442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Types of Transfer Learning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83204" y="5597218"/>
            <a:ext cx="4012538" cy="1781866"/>
            <a:chOff x="0" y="0"/>
            <a:chExt cx="1396721" cy="620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17211" y="5597218"/>
            <a:ext cx="4012538" cy="1781866"/>
            <a:chOff x="0" y="0"/>
            <a:chExt cx="1396721" cy="620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4317" y="5899238"/>
            <a:ext cx="2730311" cy="109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Different tasks, labeled target data available.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8165" y="5008736"/>
            <a:ext cx="2942616" cy="40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5"/>
              </a:lnSpc>
            </a:pPr>
            <a:r>
              <a:rPr lang="en-US" sz="2647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Inductive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24690" y="5009355"/>
            <a:ext cx="2864298" cy="40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5"/>
              </a:lnSpc>
              <a:spcBef>
                <a:spcPct val="0"/>
              </a:spcBef>
            </a:pPr>
            <a:r>
              <a:rPr lang="en-US" b="true" sz="26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Transducti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2390" y="4984028"/>
            <a:ext cx="3395281" cy="40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5"/>
              </a:lnSpc>
              <a:spcBef>
                <a:spcPct val="0"/>
              </a:spcBef>
            </a:pPr>
            <a:r>
              <a:rPr lang="en-US" b="true" sz="26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Unsupe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vi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9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282649" y="-3319895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994516" y="671017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219167">
            <a:off x="13538643" y="-4096681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4767432">
            <a:off x="9615773" y="6372329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9"/>
                </a:lnTo>
                <a:lnTo>
                  <a:pt x="0" y="9424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51218" y="5597218"/>
            <a:ext cx="4012538" cy="1781866"/>
            <a:chOff x="0" y="0"/>
            <a:chExt cx="1396721" cy="6202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475468" y="1046932"/>
            <a:ext cx="1108562" cy="1159281"/>
          </a:xfrm>
          <a:custGeom>
            <a:avLst/>
            <a:gdLst/>
            <a:ahLst/>
            <a:cxnLst/>
            <a:rect r="r" b="b" t="t" l="l"/>
            <a:pathLst>
              <a:path h="1159281" w="1108562">
                <a:moveTo>
                  <a:pt x="0" y="0"/>
                </a:moveTo>
                <a:lnTo>
                  <a:pt x="1108562" y="0"/>
                </a:lnTo>
                <a:lnTo>
                  <a:pt x="1108562" y="1159281"/>
                </a:lnTo>
                <a:lnTo>
                  <a:pt x="0" y="1159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004821" y="5008736"/>
            <a:ext cx="3192776" cy="40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5"/>
              </a:lnSpc>
              <a:spcBef>
                <a:spcPct val="0"/>
              </a:spcBef>
            </a:pPr>
            <a:r>
              <a:rPr lang="en-US" b="true" sz="26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Dom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ain </a:t>
            </a:r>
            <a:r>
              <a:rPr lang="en-US" b="true" sz="2647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Adaptation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392258" y="5597218"/>
            <a:ext cx="4012538" cy="1781866"/>
            <a:chOff x="0" y="0"/>
            <a:chExt cx="1396721" cy="6202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96720" cy="620248"/>
            </a:xfrm>
            <a:custGeom>
              <a:avLst/>
              <a:gdLst/>
              <a:ahLst/>
              <a:cxnLst/>
              <a:rect r="r" b="b" t="t" l="l"/>
              <a:pathLst>
                <a:path h="620248" w="1396720">
                  <a:moveTo>
                    <a:pt x="98401" y="0"/>
                  </a:moveTo>
                  <a:lnTo>
                    <a:pt x="1298319" y="0"/>
                  </a:lnTo>
                  <a:cubicBezTo>
                    <a:pt x="1324417" y="0"/>
                    <a:pt x="1349446" y="10367"/>
                    <a:pt x="1367899" y="28821"/>
                  </a:cubicBezTo>
                  <a:cubicBezTo>
                    <a:pt x="1386353" y="47275"/>
                    <a:pt x="1396720" y="72303"/>
                    <a:pt x="1396720" y="98401"/>
                  </a:cubicBezTo>
                  <a:lnTo>
                    <a:pt x="1396720" y="521847"/>
                  </a:lnTo>
                  <a:cubicBezTo>
                    <a:pt x="1396720" y="576192"/>
                    <a:pt x="1352665" y="620248"/>
                    <a:pt x="1298319" y="620248"/>
                  </a:cubicBezTo>
                  <a:lnTo>
                    <a:pt x="98401" y="620248"/>
                  </a:lnTo>
                  <a:cubicBezTo>
                    <a:pt x="72303" y="620248"/>
                    <a:pt x="47275" y="609881"/>
                    <a:pt x="28821" y="591427"/>
                  </a:cubicBezTo>
                  <a:cubicBezTo>
                    <a:pt x="10367" y="572973"/>
                    <a:pt x="0" y="547945"/>
                    <a:pt x="0" y="521847"/>
                  </a:cubicBezTo>
                  <a:lnTo>
                    <a:pt x="0" y="98401"/>
                  </a:lnTo>
                  <a:cubicBezTo>
                    <a:pt x="0" y="44056"/>
                    <a:pt x="44056" y="0"/>
                    <a:pt x="9840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396721" cy="715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648956" y="6075434"/>
            <a:ext cx="2749048" cy="7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ame task, different domains.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51360" y="6075434"/>
            <a:ext cx="3119287" cy="7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 labeled data in either domain.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04821" y="6075434"/>
            <a:ext cx="2831680" cy="7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Bri</a:t>
            </a:r>
            <a:r>
              <a:rPr lang="en-US" b="true" sz="20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dging distribution shifts.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73641" y="2594896"/>
            <a:ext cx="8760010" cy="186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41"/>
              </a:lnSpc>
            </a:pPr>
            <a:r>
              <a:rPr lang="en-US" b="true" sz="639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Components of </a:t>
            </a:r>
            <a:r>
              <a:rPr lang="en-US" b="true" sz="6393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59612" y="5366598"/>
            <a:ext cx="6474038" cy="345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607" indent="-261804" lvl="1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Domains: Source (origin) and Target (new application).</a:t>
            </a:r>
          </a:p>
          <a:p>
            <a:pPr algn="l" marL="523607" indent="-261804" lvl="1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Pre-trained Model: Deep network holding general knowledge.</a:t>
            </a:r>
          </a:p>
          <a:p>
            <a:pPr algn="l" marL="523607" indent="-261804" lvl="1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Feature Extractor: Frozen layers retaining reusable patterns.</a:t>
            </a:r>
          </a:p>
          <a:p>
            <a:pPr algn="l" marL="523607" indent="-261804" lvl="1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Adaptation Method: Fine-tuning the new task head.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53711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63441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10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629315" y="-172512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52634" y="5757909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115127">
            <a:off x="1016141" y="-3179323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88954" y="1825706"/>
            <a:ext cx="6994017" cy="69940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2500" r="0" b="-1250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395950" y="1206469"/>
            <a:ext cx="1496099" cy="1564548"/>
          </a:xfrm>
          <a:custGeom>
            <a:avLst/>
            <a:gdLst/>
            <a:ahLst/>
            <a:cxnLst/>
            <a:rect r="r" b="b" t="t" l="l"/>
            <a:pathLst>
              <a:path h="1564548" w="1496099">
                <a:moveTo>
                  <a:pt x="0" y="0"/>
                </a:moveTo>
                <a:lnTo>
                  <a:pt x="1496100" y="0"/>
                </a:lnTo>
                <a:lnTo>
                  <a:pt x="1496100" y="1564548"/>
                </a:lnTo>
                <a:lnTo>
                  <a:pt x="0" y="1564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30203" y="6172200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01310"/>
            <a:ext cx="7044662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Traditinal ML Vs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083336" y="-345438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767432">
            <a:off x="4517937" y="-5103290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38657" y="8627094"/>
            <a:ext cx="2668864" cy="2790969"/>
          </a:xfrm>
          <a:custGeom>
            <a:avLst/>
            <a:gdLst/>
            <a:ahLst/>
            <a:cxnLst/>
            <a:rect r="r" b="b" t="t" l="l"/>
            <a:pathLst>
              <a:path h="2790969" w="2668864">
                <a:moveTo>
                  <a:pt x="0" y="0"/>
                </a:moveTo>
                <a:lnTo>
                  <a:pt x="2668865" y="0"/>
                </a:lnTo>
                <a:lnTo>
                  <a:pt x="2668865" y="2790969"/>
                </a:lnTo>
                <a:lnTo>
                  <a:pt x="0" y="2790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15661" y="7568165"/>
            <a:ext cx="914858" cy="956714"/>
          </a:xfrm>
          <a:custGeom>
            <a:avLst/>
            <a:gdLst/>
            <a:ahLst/>
            <a:cxnLst/>
            <a:rect r="r" b="b" t="t" l="l"/>
            <a:pathLst>
              <a:path h="956714" w="914858">
                <a:moveTo>
                  <a:pt x="0" y="0"/>
                </a:moveTo>
                <a:lnTo>
                  <a:pt x="914857" y="0"/>
                </a:lnTo>
                <a:lnTo>
                  <a:pt x="914857" y="956713"/>
                </a:lnTo>
                <a:lnTo>
                  <a:pt x="0" y="9567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92644" y="5519305"/>
            <a:ext cx="401890" cy="465959"/>
          </a:xfrm>
          <a:custGeom>
            <a:avLst/>
            <a:gdLst/>
            <a:ahLst/>
            <a:cxnLst/>
            <a:rect r="r" b="b" t="t" l="l"/>
            <a:pathLst>
              <a:path h="465959" w="401890">
                <a:moveTo>
                  <a:pt x="0" y="0"/>
                </a:moveTo>
                <a:lnTo>
                  <a:pt x="401889" y="0"/>
                </a:lnTo>
                <a:lnTo>
                  <a:pt x="401889" y="465959"/>
                </a:lnTo>
                <a:lnTo>
                  <a:pt x="0" y="4659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92644" y="6383399"/>
            <a:ext cx="338050" cy="423223"/>
          </a:xfrm>
          <a:custGeom>
            <a:avLst/>
            <a:gdLst/>
            <a:ahLst/>
            <a:cxnLst/>
            <a:rect r="r" b="b" t="t" l="l"/>
            <a:pathLst>
              <a:path h="423223" w="338050">
                <a:moveTo>
                  <a:pt x="0" y="0"/>
                </a:moveTo>
                <a:lnTo>
                  <a:pt x="338049" y="0"/>
                </a:lnTo>
                <a:lnTo>
                  <a:pt x="338049" y="423223"/>
                </a:lnTo>
                <a:lnTo>
                  <a:pt x="0" y="423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881185" y="7110635"/>
            <a:ext cx="349508" cy="556985"/>
          </a:xfrm>
          <a:custGeom>
            <a:avLst/>
            <a:gdLst/>
            <a:ahLst/>
            <a:cxnLst/>
            <a:rect r="r" b="b" t="t" l="l"/>
            <a:pathLst>
              <a:path h="556985" w="349508">
                <a:moveTo>
                  <a:pt x="0" y="0"/>
                </a:moveTo>
                <a:lnTo>
                  <a:pt x="349508" y="0"/>
                </a:lnTo>
                <a:lnTo>
                  <a:pt x="349508" y="556985"/>
                </a:lnTo>
                <a:lnTo>
                  <a:pt x="0" y="5569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92939" y="7975441"/>
            <a:ext cx="601299" cy="549437"/>
          </a:xfrm>
          <a:custGeom>
            <a:avLst/>
            <a:gdLst/>
            <a:ahLst/>
            <a:cxnLst/>
            <a:rect r="r" b="b" t="t" l="l"/>
            <a:pathLst>
              <a:path h="549437" w="601299">
                <a:moveTo>
                  <a:pt x="0" y="0"/>
                </a:moveTo>
                <a:lnTo>
                  <a:pt x="601299" y="0"/>
                </a:lnTo>
                <a:lnTo>
                  <a:pt x="601299" y="549437"/>
                </a:lnTo>
                <a:lnTo>
                  <a:pt x="0" y="5494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061099"/>
            <a:ext cx="8587164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 Learning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7061" y="4589797"/>
            <a:ext cx="4019202" cy="55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3"/>
              </a:lnSpc>
              <a:spcBef>
                <a:spcPct val="0"/>
              </a:spcBef>
            </a:pPr>
            <a:r>
              <a:rPr lang="en-US" b="true" sz="3498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DIMENSION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06263" y="4589797"/>
            <a:ext cx="4019202" cy="55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3"/>
              </a:lnSpc>
              <a:spcBef>
                <a:spcPct val="0"/>
              </a:spcBef>
            </a:pPr>
            <a:r>
              <a:rPr lang="en-US" b="true" sz="3498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Traditional ML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33137" y="4589797"/>
            <a:ext cx="4019202" cy="55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3"/>
              </a:lnSpc>
              <a:spcBef>
                <a:spcPct val="0"/>
              </a:spcBef>
            </a:pPr>
            <a:r>
              <a:rPr lang="en-US" b="true" sz="3498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34289" y="5514975"/>
            <a:ext cx="1903502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Initial State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34289" y="6330249"/>
            <a:ext cx="1903502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Data Needed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44911" y="7145523"/>
            <a:ext cx="1903502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Traning Time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44911" y="7960797"/>
            <a:ext cx="1903502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Cost Intensity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73362" y="5514975"/>
            <a:ext cx="4207325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Random Weights ( Cold Start)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30946" y="5433580"/>
            <a:ext cx="4674916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Pre-trained weights ( warm start)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73362" y="6330249"/>
            <a:ext cx="4207325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Massive Labeled Dataset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30946" y="6330249"/>
            <a:ext cx="4207325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Minimal Labeled Samples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73362" y="7145523"/>
            <a:ext cx="4207325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Long ( Weeks / Days 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30946" y="7124366"/>
            <a:ext cx="4207325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Short ( Hours / Minutes 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73362" y="7960797"/>
            <a:ext cx="4207325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High Compute Resources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30946" y="7920590"/>
            <a:ext cx="4207325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Optimized Efficiency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1485" y="6195233"/>
            <a:ext cx="3640450" cy="1505811"/>
            <a:chOff x="0" y="0"/>
            <a:chExt cx="958802" cy="396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8802" cy="396592"/>
            </a:xfrm>
            <a:custGeom>
              <a:avLst/>
              <a:gdLst/>
              <a:ahLst/>
              <a:cxnLst/>
              <a:rect r="r" b="b" t="t" l="l"/>
              <a:pathLst>
                <a:path h="396592" w="958802">
                  <a:moveTo>
                    <a:pt x="108459" y="0"/>
                  </a:moveTo>
                  <a:lnTo>
                    <a:pt x="850343" y="0"/>
                  </a:lnTo>
                  <a:cubicBezTo>
                    <a:pt x="910243" y="0"/>
                    <a:pt x="958802" y="48559"/>
                    <a:pt x="958802" y="108459"/>
                  </a:cubicBezTo>
                  <a:lnTo>
                    <a:pt x="958802" y="288134"/>
                  </a:lnTo>
                  <a:cubicBezTo>
                    <a:pt x="958802" y="348034"/>
                    <a:pt x="910243" y="396592"/>
                    <a:pt x="850343" y="396592"/>
                  </a:cubicBezTo>
                  <a:lnTo>
                    <a:pt x="108459" y="396592"/>
                  </a:lnTo>
                  <a:cubicBezTo>
                    <a:pt x="79694" y="396592"/>
                    <a:pt x="52107" y="385165"/>
                    <a:pt x="31767" y="364825"/>
                  </a:cubicBezTo>
                  <a:cubicBezTo>
                    <a:pt x="11427" y="344485"/>
                    <a:pt x="0" y="316899"/>
                    <a:pt x="0" y="288134"/>
                  </a:cubicBezTo>
                  <a:lnTo>
                    <a:pt x="0" y="108459"/>
                  </a:lnTo>
                  <a:cubicBezTo>
                    <a:pt x="0" y="48559"/>
                    <a:pt x="48559" y="0"/>
                    <a:pt x="108459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58802" cy="49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74466" y="6292942"/>
            <a:ext cx="3640450" cy="1505811"/>
            <a:chOff x="0" y="0"/>
            <a:chExt cx="958802" cy="39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8802" cy="396592"/>
            </a:xfrm>
            <a:custGeom>
              <a:avLst/>
              <a:gdLst/>
              <a:ahLst/>
              <a:cxnLst/>
              <a:rect r="r" b="b" t="t" l="l"/>
              <a:pathLst>
                <a:path h="396592" w="958802">
                  <a:moveTo>
                    <a:pt x="108459" y="0"/>
                  </a:moveTo>
                  <a:lnTo>
                    <a:pt x="850343" y="0"/>
                  </a:lnTo>
                  <a:cubicBezTo>
                    <a:pt x="910243" y="0"/>
                    <a:pt x="958802" y="48559"/>
                    <a:pt x="958802" y="108459"/>
                  </a:cubicBezTo>
                  <a:lnTo>
                    <a:pt x="958802" y="288134"/>
                  </a:lnTo>
                  <a:cubicBezTo>
                    <a:pt x="958802" y="348034"/>
                    <a:pt x="910243" y="396592"/>
                    <a:pt x="850343" y="396592"/>
                  </a:cubicBezTo>
                  <a:lnTo>
                    <a:pt x="108459" y="396592"/>
                  </a:lnTo>
                  <a:cubicBezTo>
                    <a:pt x="79694" y="396592"/>
                    <a:pt x="52107" y="385165"/>
                    <a:pt x="31767" y="364825"/>
                  </a:cubicBezTo>
                  <a:cubicBezTo>
                    <a:pt x="11427" y="344485"/>
                    <a:pt x="0" y="316899"/>
                    <a:pt x="0" y="288134"/>
                  </a:cubicBezTo>
                  <a:lnTo>
                    <a:pt x="0" y="108459"/>
                  </a:lnTo>
                  <a:cubicBezTo>
                    <a:pt x="0" y="48559"/>
                    <a:pt x="48559" y="0"/>
                    <a:pt x="108459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958802" cy="49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29291" y="6292942"/>
            <a:ext cx="3640450" cy="1505811"/>
            <a:chOff x="0" y="0"/>
            <a:chExt cx="958802" cy="39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8802" cy="396592"/>
            </a:xfrm>
            <a:custGeom>
              <a:avLst/>
              <a:gdLst/>
              <a:ahLst/>
              <a:cxnLst/>
              <a:rect r="r" b="b" t="t" l="l"/>
              <a:pathLst>
                <a:path h="396592" w="958802">
                  <a:moveTo>
                    <a:pt x="108459" y="0"/>
                  </a:moveTo>
                  <a:lnTo>
                    <a:pt x="850343" y="0"/>
                  </a:lnTo>
                  <a:cubicBezTo>
                    <a:pt x="910243" y="0"/>
                    <a:pt x="958802" y="48559"/>
                    <a:pt x="958802" y="108459"/>
                  </a:cubicBezTo>
                  <a:lnTo>
                    <a:pt x="958802" y="288134"/>
                  </a:lnTo>
                  <a:cubicBezTo>
                    <a:pt x="958802" y="348034"/>
                    <a:pt x="910243" y="396592"/>
                    <a:pt x="850343" y="396592"/>
                  </a:cubicBezTo>
                  <a:lnTo>
                    <a:pt x="108459" y="396592"/>
                  </a:lnTo>
                  <a:cubicBezTo>
                    <a:pt x="79694" y="396592"/>
                    <a:pt x="52107" y="385165"/>
                    <a:pt x="31767" y="364825"/>
                  </a:cubicBezTo>
                  <a:cubicBezTo>
                    <a:pt x="11427" y="344485"/>
                    <a:pt x="0" y="316899"/>
                    <a:pt x="0" y="288134"/>
                  </a:cubicBezTo>
                  <a:lnTo>
                    <a:pt x="0" y="108459"/>
                  </a:lnTo>
                  <a:cubicBezTo>
                    <a:pt x="0" y="48559"/>
                    <a:pt x="48559" y="0"/>
                    <a:pt x="108459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958802" cy="49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37279" y="6373292"/>
            <a:ext cx="3008862" cy="111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4"/>
              </a:lnSpc>
              <a:spcBef>
                <a:spcPct val="0"/>
              </a:spcBef>
            </a:pPr>
            <a:r>
              <a:rPr lang="en-US" sz="203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ResNet, VGG, Inception, EfficientNet, Vision Transformers (ViT).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5503" y="5136157"/>
            <a:ext cx="2612414" cy="90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3"/>
              </a:lnSpc>
              <a:spcBef>
                <a:spcPct val="0"/>
              </a:spcBef>
            </a:pPr>
            <a:r>
              <a:rPr lang="en-US" b="true" sz="27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mp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is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79339" y="5233866"/>
            <a:ext cx="3140355" cy="48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3"/>
              </a:lnSpc>
              <a:spcBef>
                <a:spcPct val="0"/>
              </a:spcBef>
            </a:pPr>
            <a:r>
              <a:rPr lang="en-US" b="true" sz="27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197421" y="-175738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570774">
            <a:off x="-4503462" y="293989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888503">
            <a:off x="13496123" y="-3667145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1" y="0"/>
                </a:lnTo>
                <a:lnTo>
                  <a:pt x="4986241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87140" y="7874401"/>
            <a:ext cx="1372160" cy="1434938"/>
          </a:xfrm>
          <a:custGeom>
            <a:avLst/>
            <a:gdLst/>
            <a:ahLst/>
            <a:cxnLst/>
            <a:rect r="r" b="b" t="t" l="l"/>
            <a:pathLst>
              <a:path h="1434938" w="1372160">
                <a:moveTo>
                  <a:pt x="0" y="0"/>
                </a:moveTo>
                <a:lnTo>
                  <a:pt x="1372160" y="0"/>
                </a:lnTo>
                <a:lnTo>
                  <a:pt x="1372160" y="1434939"/>
                </a:lnTo>
                <a:lnTo>
                  <a:pt x="0" y="14349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697331" y="3339279"/>
            <a:ext cx="3602183" cy="2026228"/>
          </a:xfrm>
          <a:custGeom>
            <a:avLst/>
            <a:gdLst/>
            <a:ahLst/>
            <a:cxnLst/>
            <a:rect r="r" b="b" t="t" l="l"/>
            <a:pathLst>
              <a:path h="2026228" w="3602183">
                <a:moveTo>
                  <a:pt x="0" y="0"/>
                </a:moveTo>
                <a:lnTo>
                  <a:pt x="3602183" y="0"/>
                </a:lnTo>
                <a:lnTo>
                  <a:pt x="3602183" y="2026227"/>
                </a:lnTo>
                <a:lnTo>
                  <a:pt x="0" y="2026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197703" y="3482258"/>
            <a:ext cx="2151921" cy="1049061"/>
          </a:xfrm>
          <a:custGeom>
            <a:avLst/>
            <a:gdLst/>
            <a:ahLst/>
            <a:cxnLst/>
            <a:rect r="r" b="b" t="t" l="l"/>
            <a:pathLst>
              <a:path h="1049061" w="2151921">
                <a:moveTo>
                  <a:pt x="0" y="0"/>
                </a:moveTo>
                <a:lnTo>
                  <a:pt x="2151921" y="0"/>
                </a:lnTo>
                <a:lnTo>
                  <a:pt x="2151921" y="1049062"/>
                </a:lnTo>
                <a:lnTo>
                  <a:pt x="0" y="10490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197703" y="4155138"/>
            <a:ext cx="2271910" cy="1135955"/>
          </a:xfrm>
          <a:custGeom>
            <a:avLst/>
            <a:gdLst/>
            <a:ahLst/>
            <a:cxnLst/>
            <a:rect r="r" b="b" t="t" l="l"/>
            <a:pathLst>
              <a:path h="1135955" w="2271910">
                <a:moveTo>
                  <a:pt x="0" y="0"/>
                </a:moveTo>
                <a:lnTo>
                  <a:pt x="2271910" y="0"/>
                </a:lnTo>
                <a:lnTo>
                  <a:pt x="2271910" y="1135955"/>
                </a:lnTo>
                <a:lnTo>
                  <a:pt x="0" y="1135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201912" y="4006789"/>
            <a:ext cx="1299537" cy="540932"/>
          </a:xfrm>
          <a:custGeom>
            <a:avLst/>
            <a:gdLst/>
            <a:ahLst/>
            <a:cxnLst/>
            <a:rect r="r" b="b" t="t" l="l"/>
            <a:pathLst>
              <a:path h="540932" w="1299537">
                <a:moveTo>
                  <a:pt x="0" y="0"/>
                </a:moveTo>
                <a:lnTo>
                  <a:pt x="1299537" y="0"/>
                </a:lnTo>
                <a:lnTo>
                  <a:pt x="1299537" y="540932"/>
                </a:lnTo>
                <a:lnTo>
                  <a:pt x="0" y="5409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742806" y="4723116"/>
            <a:ext cx="2217749" cy="475558"/>
          </a:xfrm>
          <a:custGeom>
            <a:avLst/>
            <a:gdLst/>
            <a:ahLst/>
            <a:cxnLst/>
            <a:rect r="r" b="b" t="t" l="l"/>
            <a:pathLst>
              <a:path h="475558" w="2217749">
                <a:moveTo>
                  <a:pt x="0" y="0"/>
                </a:moveTo>
                <a:lnTo>
                  <a:pt x="2217749" y="0"/>
                </a:lnTo>
                <a:lnTo>
                  <a:pt x="2217749" y="475558"/>
                </a:lnTo>
                <a:lnTo>
                  <a:pt x="0" y="4755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424566" y="6554284"/>
            <a:ext cx="3008862" cy="74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4"/>
              </a:lnSpc>
              <a:spcBef>
                <a:spcPct val="0"/>
              </a:spcBef>
            </a:pPr>
            <a:r>
              <a:rPr lang="en-US" sz="203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DALL·E, Flamingo, LLaVA.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67001" y="6554284"/>
            <a:ext cx="3008862" cy="74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4"/>
              </a:lnSpc>
              <a:spcBef>
                <a:spcPct val="0"/>
              </a:spcBef>
            </a:pPr>
            <a:r>
              <a:rPr lang="en-US" sz="203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BER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,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GPT-3/4,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T5,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BERT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,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CLIP.</a:t>
            </a:r>
            <a:r>
              <a:rPr lang="en-US" sz="2038" strike="noStrike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76851" y="5233866"/>
            <a:ext cx="3435682" cy="90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3"/>
              </a:lnSpc>
              <a:spcBef>
                <a:spcPct val="0"/>
              </a:spcBef>
            </a:pPr>
            <a:r>
              <a:rPr lang="en-US" b="true" sz="27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Natu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ua</a:t>
            </a:r>
            <a:r>
              <a:rPr lang="en-US" b="true" sz="2744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 (NLP)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97703" y="7963287"/>
            <a:ext cx="2088014" cy="49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b="true" sz="28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Healthcare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3621" y="2439626"/>
            <a:ext cx="14835623" cy="81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69"/>
              </a:lnSpc>
            </a:pPr>
            <a:r>
              <a:rPr lang="en-US" sz="5298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Popular Pretrained </a:t>
            </a:r>
            <a:r>
              <a:rPr lang="en-US" sz="5298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Models &amp; Applications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97331" y="7884478"/>
            <a:ext cx="3853606" cy="49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b="true" sz="28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Autonomous Systems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32605" y="7884478"/>
            <a:ext cx="1433823" cy="49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b="true" sz="28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Finance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78553" y="-2148351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80576" y="7096258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57965">
            <a:off x="8166926" y="-5071179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1" y="0"/>
                </a:lnTo>
                <a:lnTo>
                  <a:pt x="4986241" y="9424169"/>
                </a:lnTo>
                <a:lnTo>
                  <a:pt x="0" y="9424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91213" y="8093090"/>
            <a:ext cx="1372160" cy="1434938"/>
          </a:xfrm>
          <a:custGeom>
            <a:avLst/>
            <a:gdLst/>
            <a:ahLst/>
            <a:cxnLst/>
            <a:rect r="r" b="b" t="t" l="l"/>
            <a:pathLst>
              <a:path h="1434938" w="1372160">
                <a:moveTo>
                  <a:pt x="0" y="0"/>
                </a:moveTo>
                <a:lnTo>
                  <a:pt x="1372160" y="0"/>
                </a:lnTo>
                <a:lnTo>
                  <a:pt x="1372160" y="1434938"/>
                </a:lnTo>
                <a:lnTo>
                  <a:pt x="0" y="14349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197945" y="6888797"/>
            <a:ext cx="0" cy="120429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977945" y="4064359"/>
            <a:ext cx="2439999" cy="2439999"/>
          </a:xfrm>
          <a:custGeom>
            <a:avLst/>
            <a:gdLst/>
            <a:ahLst/>
            <a:cxnLst/>
            <a:rect r="r" b="b" t="t" l="l"/>
            <a:pathLst>
              <a:path h="2439999" w="2439999">
                <a:moveTo>
                  <a:pt x="0" y="0"/>
                </a:moveTo>
                <a:lnTo>
                  <a:pt x="2440000" y="0"/>
                </a:lnTo>
                <a:lnTo>
                  <a:pt x="2440000" y="2439999"/>
                </a:lnTo>
                <a:lnTo>
                  <a:pt x="0" y="24399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09185" y="2440280"/>
            <a:ext cx="9795446" cy="110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03"/>
              </a:lnSpc>
            </a:pPr>
            <a:r>
              <a:rPr lang="en-US" sz="7199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Advanced </a:t>
            </a:r>
            <a:r>
              <a:rPr lang="en-US" sz="7199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Techniques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29526" y="4530783"/>
            <a:ext cx="9525" cy="46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181281" y="4673688"/>
            <a:ext cx="2091382" cy="89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ew/Zero-Shot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2255" y="8203038"/>
            <a:ext cx="2353280" cy="13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Generalizing from &lt;= 5 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 zero examples.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175336" y="4064359"/>
            <a:ext cx="2439999" cy="2439999"/>
          </a:xfrm>
          <a:custGeom>
            <a:avLst/>
            <a:gdLst/>
            <a:ahLst/>
            <a:cxnLst/>
            <a:rect r="r" b="b" t="t" l="l"/>
            <a:pathLst>
              <a:path h="2439999" w="2439999">
                <a:moveTo>
                  <a:pt x="0" y="0"/>
                </a:moveTo>
                <a:lnTo>
                  <a:pt x="2439999" y="0"/>
                </a:lnTo>
                <a:lnTo>
                  <a:pt x="2439999" y="2439999"/>
                </a:lnTo>
                <a:lnTo>
                  <a:pt x="0" y="24399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26917" y="4530783"/>
            <a:ext cx="9525" cy="46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378671" y="4673688"/>
            <a:ext cx="2091382" cy="89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Multi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-Task Learning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99645" y="8203038"/>
            <a:ext cx="2353280" cy="13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Training on multipl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 related tasks jointly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414385" y="6799177"/>
            <a:ext cx="0" cy="120429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377335" y="4070325"/>
            <a:ext cx="2439999" cy="2439999"/>
          </a:xfrm>
          <a:custGeom>
            <a:avLst/>
            <a:gdLst/>
            <a:ahLst/>
            <a:cxnLst/>
            <a:rect r="r" b="b" t="t" l="l"/>
            <a:pathLst>
              <a:path h="2439999" w="2439999">
                <a:moveTo>
                  <a:pt x="0" y="0"/>
                </a:moveTo>
                <a:lnTo>
                  <a:pt x="2439999" y="0"/>
                </a:lnTo>
                <a:lnTo>
                  <a:pt x="2439999" y="2440000"/>
                </a:lnTo>
                <a:lnTo>
                  <a:pt x="0" y="2440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577360" y="4459376"/>
            <a:ext cx="2091382" cy="13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Self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-Supervised Pretraining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01645" y="8209005"/>
            <a:ext cx="2353280" cy="13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Learning from compl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etely unlabeled data.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1616385" y="6805143"/>
            <a:ext cx="0" cy="120429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73641" y="2594896"/>
            <a:ext cx="8760010" cy="186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41"/>
              </a:lnSpc>
            </a:pPr>
            <a:r>
              <a:rPr lang="en-US" b="true" sz="639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Deep </a:t>
            </a:r>
            <a:r>
              <a:rPr lang="en-US" b="true" sz="6393">
                <a:solidFill>
                  <a:srgbClr val="FF60F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 Learning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53711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29315" y="-172512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2634" y="5757909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115127">
            <a:off x="1016141" y="-3179323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95950" y="1206469"/>
            <a:ext cx="1496099" cy="1564548"/>
          </a:xfrm>
          <a:custGeom>
            <a:avLst/>
            <a:gdLst/>
            <a:ahLst/>
            <a:cxnLst/>
            <a:rect r="r" b="b" t="t" l="l"/>
            <a:pathLst>
              <a:path h="1564548" w="1496099">
                <a:moveTo>
                  <a:pt x="0" y="0"/>
                </a:moveTo>
                <a:lnTo>
                  <a:pt x="1496100" y="0"/>
                </a:lnTo>
                <a:lnTo>
                  <a:pt x="1496100" y="1564548"/>
                </a:lnTo>
                <a:lnTo>
                  <a:pt x="0" y="1564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10937" y="2209205"/>
            <a:ext cx="6160524" cy="6344540"/>
          </a:xfrm>
          <a:custGeom>
            <a:avLst/>
            <a:gdLst/>
            <a:ahLst/>
            <a:cxnLst/>
            <a:rect r="r" b="b" t="t" l="l"/>
            <a:pathLst>
              <a:path h="6344540" w="6160524">
                <a:moveTo>
                  <a:pt x="0" y="0"/>
                </a:moveTo>
                <a:lnTo>
                  <a:pt x="6160524" y="0"/>
                </a:lnTo>
                <a:lnTo>
                  <a:pt x="6160524" y="6344539"/>
                </a:lnTo>
                <a:lnTo>
                  <a:pt x="0" y="63445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922854" y="5181016"/>
            <a:ext cx="6910796" cy="277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931" indent="-279466" lvl="1">
              <a:lnSpc>
                <a:spcPts val="3624"/>
              </a:lnSpc>
              <a:buFont typeface="Arial"/>
              <a:buChar char="•"/>
            </a:pPr>
            <a:r>
              <a:rPr lang="en-US" sz="258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Early Layers (Frozen): Basic patterns like edges or syntax. </a:t>
            </a:r>
          </a:p>
          <a:p>
            <a:pPr algn="l" marL="558931" indent="-279466" lvl="1">
              <a:lnSpc>
                <a:spcPts val="3624"/>
              </a:lnSpc>
              <a:buFont typeface="Arial"/>
              <a:buChar char="•"/>
            </a:pPr>
            <a:r>
              <a:rPr lang="en-US" sz="258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Middle Layers (Partial): Mid-level semantic structures. </a:t>
            </a:r>
          </a:p>
          <a:p>
            <a:pPr algn="l" marL="558931" indent="-279466" lvl="1">
              <a:lnSpc>
                <a:spcPts val="3624"/>
              </a:lnSpc>
              <a:buFont typeface="Arial"/>
              <a:buChar char="•"/>
            </a:pPr>
            <a:r>
              <a:rPr lang="en-US" sz="258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Final Layers (Trained): Task-specific target output.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63441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30203" y="6172200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01310"/>
            <a:ext cx="7044662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Advantages  Vs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15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083336" y="-345438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767432">
            <a:off x="4517937" y="-5103290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38657" y="8627094"/>
            <a:ext cx="2668864" cy="2790969"/>
          </a:xfrm>
          <a:custGeom>
            <a:avLst/>
            <a:gdLst/>
            <a:ahLst/>
            <a:cxnLst/>
            <a:rect r="r" b="b" t="t" l="l"/>
            <a:pathLst>
              <a:path h="2790969" w="2668864">
                <a:moveTo>
                  <a:pt x="0" y="0"/>
                </a:moveTo>
                <a:lnTo>
                  <a:pt x="2668865" y="0"/>
                </a:lnTo>
                <a:lnTo>
                  <a:pt x="2668865" y="2790969"/>
                </a:lnTo>
                <a:lnTo>
                  <a:pt x="0" y="2790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15661" y="7568165"/>
            <a:ext cx="914858" cy="956714"/>
          </a:xfrm>
          <a:custGeom>
            <a:avLst/>
            <a:gdLst/>
            <a:ahLst/>
            <a:cxnLst/>
            <a:rect r="r" b="b" t="t" l="l"/>
            <a:pathLst>
              <a:path h="956714" w="914858">
                <a:moveTo>
                  <a:pt x="0" y="0"/>
                </a:moveTo>
                <a:lnTo>
                  <a:pt x="914857" y="0"/>
                </a:lnTo>
                <a:lnTo>
                  <a:pt x="914857" y="956713"/>
                </a:lnTo>
                <a:lnTo>
                  <a:pt x="0" y="9567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47110" y="6039541"/>
            <a:ext cx="464937" cy="539057"/>
          </a:xfrm>
          <a:custGeom>
            <a:avLst/>
            <a:gdLst/>
            <a:ahLst/>
            <a:cxnLst/>
            <a:rect r="r" b="b" t="t" l="l"/>
            <a:pathLst>
              <a:path h="539057" w="464937">
                <a:moveTo>
                  <a:pt x="0" y="0"/>
                </a:moveTo>
                <a:lnTo>
                  <a:pt x="464936" y="0"/>
                </a:lnTo>
                <a:lnTo>
                  <a:pt x="464936" y="539058"/>
                </a:lnTo>
                <a:lnTo>
                  <a:pt x="0" y="539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47110" y="7039193"/>
            <a:ext cx="391082" cy="489617"/>
          </a:xfrm>
          <a:custGeom>
            <a:avLst/>
            <a:gdLst/>
            <a:ahLst/>
            <a:cxnLst/>
            <a:rect r="r" b="b" t="t" l="l"/>
            <a:pathLst>
              <a:path h="489617" w="391082">
                <a:moveTo>
                  <a:pt x="0" y="0"/>
                </a:moveTo>
                <a:lnTo>
                  <a:pt x="391082" y="0"/>
                </a:lnTo>
                <a:lnTo>
                  <a:pt x="391082" y="489617"/>
                </a:lnTo>
                <a:lnTo>
                  <a:pt x="0" y="489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33854" y="7880515"/>
            <a:ext cx="404338" cy="644363"/>
          </a:xfrm>
          <a:custGeom>
            <a:avLst/>
            <a:gdLst/>
            <a:ahLst/>
            <a:cxnLst/>
            <a:rect r="r" b="b" t="t" l="l"/>
            <a:pathLst>
              <a:path h="644363" w="404338">
                <a:moveTo>
                  <a:pt x="0" y="0"/>
                </a:moveTo>
                <a:lnTo>
                  <a:pt x="404338" y="0"/>
                </a:lnTo>
                <a:lnTo>
                  <a:pt x="404338" y="644363"/>
                </a:lnTo>
                <a:lnTo>
                  <a:pt x="0" y="644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45256" y="6018824"/>
            <a:ext cx="626189" cy="529129"/>
          </a:xfrm>
          <a:custGeom>
            <a:avLst/>
            <a:gdLst/>
            <a:ahLst/>
            <a:cxnLst/>
            <a:rect r="r" b="b" t="t" l="l"/>
            <a:pathLst>
              <a:path h="529129" w="626189">
                <a:moveTo>
                  <a:pt x="0" y="0"/>
                </a:moveTo>
                <a:lnTo>
                  <a:pt x="626189" y="0"/>
                </a:lnTo>
                <a:lnTo>
                  <a:pt x="626189" y="529129"/>
                </a:lnTo>
                <a:lnTo>
                  <a:pt x="0" y="5291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54094" y="7681162"/>
            <a:ext cx="778433" cy="753134"/>
          </a:xfrm>
          <a:custGeom>
            <a:avLst/>
            <a:gdLst/>
            <a:ahLst/>
            <a:cxnLst/>
            <a:rect r="r" b="b" t="t" l="l"/>
            <a:pathLst>
              <a:path h="753134" w="778433">
                <a:moveTo>
                  <a:pt x="0" y="0"/>
                </a:moveTo>
                <a:lnTo>
                  <a:pt x="778433" y="0"/>
                </a:lnTo>
                <a:lnTo>
                  <a:pt x="778433" y="753135"/>
                </a:lnTo>
                <a:lnTo>
                  <a:pt x="0" y="7531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3061099"/>
            <a:ext cx="8587164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Disadvantages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93588" y="4959174"/>
            <a:ext cx="4649722" cy="64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1"/>
              </a:lnSpc>
              <a:spcBef>
                <a:spcPct val="0"/>
              </a:spcBef>
            </a:pPr>
            <a:r>
              <a:rPr lang="en-US" b="true" sz="40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Advantages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43310" y="4959174"/>
            <a:ext cx="4649722" cy="64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1"/>
              </a:lnSpc>
              <a:spcBef>
                <a:spcPct val="0"/>
              </a:spcBef>
            </a:pPr>
            <a:r>
              <a:rPr lang="en-US" b="true" sz="40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Disadvantages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05102" y="6038456"/>
            <a:ext cx="2749629" cy="50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6" spc="-5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higher 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05102" y="6981627"/>
            <a:ext cx="2202117" cy="50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6" spc="-5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Minimal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17391" y="7924799"/>
            <a:ext cx="2486114" cy="50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6" spc="-5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Faster traning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3687" y="6038456"/>
            <a:ext cx="4867358" cy="50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6" spc="-5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Domain mismatch risks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3687" y="6981627"/>
            <a:ext cx="4867358" cy="50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6" spc="-5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inherited biases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3687" y="7924799"/>
            <a:ext cx="4867358" cy="50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6" spc="-5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high base compute costs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369134" y="6815031"/>
            <a:ext cx="778433" cy="753134"/>
          </a:xfrm>
          <a:custGeom>
            <a:avLst/>
            <a:gdLst/>
            <a:ahLst/>
            <a:cxnLst/>
            <a:rect r="r" b="b" t="t" l="l"/>
            <a:pathLst>
              <a:path h="753134" w="778433">
                <a:moveTo>
                  <a:pt x="0" y="0"/>
                </a:moveTo>
                <a:lnTo>
                  <a:pt x="778433" y="0"/>
                </a:lnTo>
                <a:lnTo>
                  <a:pt x="778433" y="753134"/>
                </a:lnTo>
                <a:lnTo>
                  <a:pt x="0" y="7531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73641" y="2594896"/>
            <a:ext cx="8760010" cy="186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41"/>
              </a:lnSpc>
            </a:pPr>
            <a:r>
              <a:rPr lang="en-US" b="true" sz="639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Challenges and </a:t>
            </a:r>
            <a:r>
              <a:rPr lang="en-US" b="true" sz="6393">
                <a:solidFill>
                  <a:srgbClr val="FF60F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59612" y="5366598"/>
            <a:ext cx="6474038" cy="259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607" indent="-261804" lvl="1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Distribution Shifts: Generalizing across varying domains is tough. </a:t>
            </a:r>
          </a:p>
          <a:p>
            <a:pPr algn="l" marL="523607" indent="-261804" lvl="1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Overfitting: Small target datasets risk memorization. </a:t>
            </a:r>
          </a:p>
          <a:p>
            <a:pPr algn="l" marL="523607" indent="-261804" lvl="1">
              <a:lnSpc>
                <a:spcPts val="3395"/>
              </a:lnSpc>
              <a:buFont typeface="Arial"/>
              <a:buChar char="•"/>
            </a:pPr>
            <a:r>
              <a:rPr lang="en-US" sz="242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Generalization: Balancing broad knowledge with specific tasks.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53711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163441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16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629315" y="-172512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52634" y="5757909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115127">
            <a:off x="1016141" y="-3179323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88954" y="1825706"/>
            <a:ext cx="6994017" cy="69940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395950" y="1206469"/>
            <a:ext cx="1496099" cy="1564548"/>
          </a:xfrm>
          <a:custGeom>
            <a:avLst/>
            <a:gdLst/>
            <a:ahLst/>
            <a:cxnLst/>
            <a:rect r="r" b="b" t="t" l="l"/>
            <a:pathLst>
              <a:path h="1564548" w="1496099">
                <a:moveTo>
                  <a:pt x="0" y="0"/>
                </a:moveTo>
                <a:lnTo>
                  <a:pt x="1496100" y="0"/>
                </a:lnTo>
                <a:lnTo>
                  <a:pt x="1496100" y="1564548"/>
                </a:lnTo>
                <a:lnTo>
                  <a:pt x="0" y="1564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10311" y="2653735"/>
            <a:ext cx="5303173" cy="1597459"/>
            <a:chOff x="0" y="0"/>
            <a:chExt cx="1396721" cy="420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6720" cy="420730"/>
            </a:xfrm>
            <a:custGeom>
              <a:avLst/>
              <a:gdLst/>
              <a:ahLst/>
              <a:cxnLst/>
              <a:rect r="r" b="b" t="t" l="l"/>
              <a:pathLst>
                <a:path h="420730" w="1396720">
                  <a:moveTo>
                    <a:pt x="74453" y="0"/>
                  </a:moveTo>
                  <a:lnTo>
                    <a:pt x="1322267" y="0"/>
                  </a:lnTo>
                  <a:cubicBezTo>
                    <a:pt x="1342014" y="0"/>
                    <a:pt x="1360951" y="7844"/>
                    <a:pt x="1374914" y="21807"/>
                  </a:cubicBezTo>
                  <a:cubicBezTo>
                    <a:pt x="1388876" y="35769"/>
                    <a:pt x="1396720" y="54707"/>
                    <a:pt x="1396720" y="74453"/>
                  </a:cubicBezTo>
                  <a:lnTo>
                    <a:pt x="1396720" y="346277"/>
                  </a:lnTo>
                  <a:cubicBezTo>
                    <a:pt x="1396720" y="366023"/>
                    <a:pt x="1388876" y="384961"/>
                    <a:pt x="1374914" y="398923"/>
                  </a:cubicBezTo>
                  <a:cubicBezTo>
                    <a:pt x="1360951" y="412886"/>
                    <a:pt x="1342014" y="420730"/>
                    <a:pt x="1322267" y="420730"/>
                  </a:cubicBezTo>
                  <a:lnTo>
                    <a:pt x="74453" y="420730"/>
                  </a:lnTo>
                  <a:cubicBezTo>
                    <a:pt x="54707" y="420730"/>
                    <a:pt x="35769" y="412886"/>
                    <a:pt x="21807" y="398923"/>
                  </a:cubicBezTo>
                  <a:cubicBezTo>
                    <a:pt x="7844" y="384961"/>
                    <a:pt x="0" y="366023"/>
                    <a:pt x="0" y="346277"/>
                  </a:cubicBezTo>
                  <a:lnTo>
                    <a:pt x="0" y="74453"/>
                  </a:lnTo>
                  <a:cubicBezTo>
                    <a:pt x="0" y="54707"/>
                    <a:pt x="7844" y="35769"/>
                    <a:pt x="21807" y="21807"/>
                  </a:cubicBezTo>
                  <a:cubicBezTo>
                    <a:pt x="35769" y="7844"/>
                    <a:pt x="54707" y="0"/>
                    <a:pt x="74453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396721" cy="515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10311" y="5187389"/>
            <a:ext cx="5303173" cy="1773584"/>
            <a:chOff x="0" y="0"/>
            <a:chExt cx="1396721" cy="4671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6720" cy="467117"/>
            </a:xfrm>
            <a:custGeom>
              <a:avLst/>
              <a:gdLst/>
              <a:ahLst/>
              <a:cxnLst/>
              <a:rect r="r" b="b" t="t" l="l"/>
              <a:pathLst>
                <a:path h="467117" w="1396720">
                  <a:moveTo>
                    <a:pt x="74453" y="0"/>
                  </a:moveTo>
                  <a:lnTo>
                    <a:pt x="1322267" y="0"/>
                  </a:lnTo>
                  <a:cubicBezTo>
                    <a:pt x="1342014" y="0"/>
                    <a:pt x="1360951" y="7844"/>
                    <a:pt x="1374914" y="21807"/>
                  </a:cubicBezTo>
                  <a:cubicBezTo>
                    <a:pt x="1388876" y="35769"/>
                    <a:pt x="1396720" y="54707"/>
                    <a:pt x="1396720" y="74453"/>
                  </a:cubicBezTo>
                  <a:lnTo>
                    <a:pt x="1396720" y="392664"/>
                  </a:lnTo>
                  <a:cubicBezTo>
                    <a:pt x="1396720" y="412410"/>
                    <a:pt x="1388876" y="431347"/>
                    <a:pt x="1374914" y="445310"/>
                  </a:cubicBezTo>
                  <a:cubicBezTo>
                    <a:pt x="1360951" y="459273"/>
                    <a:pt x="1342014" y="467117"/>
                    <a:pt x="1322267" y="467117"/>
                  </a:cubicBezTo>
                  <a:lnTo>
                    <a:pt x="74453" y="467117"/>
                  </a:lnTo>
                  <a:cubicBezTo>
                    <a:pt x="54707" y="467117"/>
                    <a:pt x="35769" y="459273"/>
                    <a:pt x="21807" y="445310"/>
                  </a:cubicBezTo>
                  <a:cubicBezTo>
                    <a:pt x="7844" y="431347"/>
                    <a:pt x="0" y="412410"/>
                    <a:pt x="0" y="392664"/>
                  </a:cubicBezTo>
                  <a:lnTo>
                    <a:pt x="0" y="74453"/>
                  </a:lnTo>
                  <a:cubicBezTo>
                    <a:pt x="0" y="54707"/>
                    <a:pt x="7844" y="35769"/>
                    <a:pt x="21807" y="21807"/>
                  </a:cubicBezTo>
                  <a:cubicBezTo>
                    <a:pt x="35769" y="7844"/>
                    <a:pt x="54707" y="0"/>
                    <a:pt x="74453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396721" cy="562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30203" y="6172200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6960974"/>
            <a:ext cx="8017149" cy="2297326"/>
            <a:chOff x="0" y="0"/>
            <a:chExt cx="1242066" cy="3559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2066" cy="355916"/>
            </a:xfrm>
            <a:custGeom>
              <a:avLst/>
              <a:gdLst/>
              <a:ahLst/>
              <a:cxnLst/>
              <a:rect r="r" b="b" t="t" l="l"/>
              <a:pathLst>
                <a:path h="355916" w="1242066">
                  <a:moveTo>
                    <a:pt x="56975" y="0"/>
                  </a:moveTo>
                  <a:lnTo>
                    <a:pt x="1185092" y="0"/>
                  </a:lnTo>
                  <a:cubicBezTo>
                    <a:pt x="1216558" y="0"/>
                    <a:pt x="1242066" y="25508"/>
                    <a:pt x="1242066" y="56975"/>
                  </a:cubicBezTo>
                  <a:lnTo>
                    <a:pt x="1242066" y="298941"/>
                  </a:lnTo>
                  <a:cubicBezTo>
                    <a:pt x="1242066" y="330408"/>
                    <a:pt x="1216558" y="355916"/>
                    <a:pt x="1185092" y="355916"/>
                  </a:cubicBezTo>
                  <a:lnTo>
                    <a:pt x="56975" y="355916"/>
                  </a:lnTo>
                  <a:cubicBezTo>
                    <a:pt x="25508" y="355916"/>
                    <a:pt x="0" y="330408"/>
                    <a:pt x="0" y="298941"/>
                  </a:cubicBezTo>
                  <a:lnTo>
                    <a:pt x="0" y="56975"/>
                  </a:lnTo>
                  <a:cubicBezTo>
                    <a:pt x="0" y="25508"/>
                    <a:pt x="25508" y="0"/>
                    <a:pt x="5697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149" r="0" b="-48149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101310"/>
            <a:ext cx="7044662" cy="10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Negative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3383" y="3036296"/>
            <a:ext cx="7044662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9969" y="4374044"/>
            <a:ext cx="6007341" cy="45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  <a:spcBef>
                <a:spcPct val="0"/>
              </a:spcBef>
            </a:pPr>
            <a:r>
              <a:rPr lang="en-US" sz="2425">
                <a:solidFill>
                  <a:srgbClr val="FF7AE6"/>
                </a:solidFill>
                <a:latin typeface="Codec Pro"/>
                <a:ea typeface="Codec Pro"/>
                <a:cs typeface="Codec Pro"/>
                <a:sym typeface="Codec Pro"/>
              </a:rPr>
              <a:t>What is it?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88438" y="1931064"/>
            <a:ext cx="4019202" cy="55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3"/>
              </a:lnSpc>
              <a:spcBef>
                <a:spcPct val="0"/>
              </a:spcBef>
            </a:pPr>
            <a:r>
              <a:rPr lang="en-US" b="true" sz="3498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Con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sequ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49174" y="4535654"/>
            <a:ext cx="3682422" cy="55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13"/>
              </a:lnSpc>
              <a:spcBef>
                <a:spcPct val="0"/>
              </a:spcBef>
            </a:pPr>
            <a:r>
              <a:rPr lang="en-US" b="true" sz="3498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it Happen</a:t>
            </a:r>
            <a:r>
              <a:rPr lang="en-US" b="true" sz="3498" strike="noStrike" u="non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06516" y="2910861"/>
            <a:ext cx="4767738" cy="111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4"/>
              </a:lnSpc>
              <a:spcBef>
                <a:spcPct val="0"/>
              </a:spcBef>
            </a:pPr>
            <a:r>
              <a:rPr lang="en-US" sz="203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The model achieves worse accuracy than if it were just trained from scratch.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78029" y="5409707"/>
            <a:ext cx="4767738" cy="111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0135" indent="-220067" lvl="1">
              <a:lnSpc>
                <a:spcPts val="2854"/>
              </a:lnSpc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Source and target tasks are too different. </a:t>
            </a:r>
          </a:p>
          <a:p>
            <a:pPr algn="ctr" marL="440135" indent="-220067" lvl="1">
              <a:lnSpc>
                <a:spcPts val="2854"/>
              </a:lnSpc>
              <a:spcBef>
                <a:spcPct val="0"/>
              </a:spcBef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Data distributions are not aligned.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17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083336" y="-345438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767432">
            <a:off x="4517937" y="-5103290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8657" y="8627094"/>
            <a:ext cx="2668864" cy="2790969"/>
          </a:xfrm>
          <a:custGeom>
            <a:avLst/>
            <a:gdLst/>
            <a:ahLst/>
            <a:cxnLst/>
            <a:rect r="r" b="b" t="t" l="l"/>
            <a:pathLst>
              <a:path h="2790969" w="2668864">
                <a:moveTo>
                  <a:pt x="0" y="0"/>
                </a:moveTo>
                <a:lnTo>
                  <a:pt x="2668865" y="0"/>
                </a:lnTo>
                <a:lnTo>
                  <a:pt x="2668865" y="2790969"/>
                </a:lnTo>
                <a:lnTo>
                  <a:pt x="0" y="27909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468280" y="6869125"/>
            <a:ext cx="914858" cy="956714"/>
          </a:xfrm>
          <a:custGeom>
            <a:avLst/>
            <a:gdLst/>
            <a:ahLst/>
            <a:cxnLst/>
            <a:rect r="r" b="b" t="t" l="l"/>
            <a:pathLst>
              <a:path h="956714" w="914858">
                <a:moveTo>
                  <a:pt x="0" y="0"/>
                </a:moveTo>
                <a:lnTo>
                  <a:pt x="914857" y="0"/>
                </a:lnTo>
                <a:lnTo>
                  <a:pt x="914857" y="956713"/>
                </a:lnTo>
                <a:lnTo>
                  <a:pt x="0" y="956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49969" y="5045868"/>
            <a:ext cx="5887239" cy="13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Negative transfer occurs when source task knowledge actively harms performance on the target task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9431" y="7275299"/>
            <a:ext cx="6039227" cy="131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Solution: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Requires careful model benchmarking and proper data selection.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30203" y="6172200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1" y="0"/>
                </a:lnTo>
                <a:lnTo>
                  <a:pt x="73237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01310"/>
            <a:ext cx="9480587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Tools, Frameworks &amp;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18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083336" y="-345438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767432">
            <a:off x="4517937" y="-5103290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38657" y="8627094"/>
            <a:ext cx="2668864" cy="2790969"/>
          </a:xfrm>
          <a:custGeom>
            <a:avLst/>
            <a:gdLst/>
            <a:ahLst/>
            <a:cxnLst/>
            <a:rect r="r" b="b" t="t" l="l"/>
            <a:pathLst>
              <a:path h="2790969" w="2668864">
                <a:moveTo>
                  <a:pt x="0" y="0"/>
                </a:moveTo>
                <a:lnTo>
                  <a:pt x="2668865" y="0"/>
                </a:lnTo>
                <a:lnTo>
                  <a:pt x="2668865" y="2790969"/>
                </a:lnTo>
                <a:lnTo>
                  <a:pt x="0" y="2790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15661" y="7568165"/>
            <a:ext cx="914858" cy="956714"/>
          </a:xfrm>
          <a:custGeom>
            <a:avLst/>
            <a:gdLst/>
            <a:ahLst/>
            <a:cxnLst/>
            <a:rect r="r" b="b" t="t" l="l"/>
            <a:pathLst>
              <a:path h="956714" w="914858">
                <a:moveTo>
                  <a:pt x="0" y="0"/>
                </a:moveTo>
                <a:lnTo>
                  <a:pt x="914857" y="0"/>
                </a:lnTo>
                <a:lnTo>
                  <a:pt x="914857" y="956713"/>
                </a:lnTo>
                <a:lnTo>
                  <a:pt x="0" y="9567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4238" y="5256242"/>
            <a:ext cx="3108911" cy="1632178"/>
          </a:xfrm>
          <a:custGeom>
            <a:avLst/>
            <a:gdLst/>
            <a:ahLst/>
            <a:cxnLst/>
            <a:rect r="r" b="b" t="t" l="l"/>
            <a:pathLst>
              <a:path h="1632178" w="3108911">
                <a:moveTo>
                  <a:pt x="0" y="0"/>
                </a:moveTo>
                <a:lnTo>
                  <a:pt x="3108912" y="0"/>
                </a:lnTo>
                <a:lnTo>
                  <a:pt x="3108912" y="1632178"/>
                </a:lnTo>
                <a:lnTo>
                  <a:pt x="0" y="16321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77912" y="5750791"/>
            <a:ext cx="647235" cy="643079"/>
          </a:xfrm>
          <a:custGeom>
            <a:avLst/>
            <a:gdLst/>
            <a:ahLst/>
            <a:cxnLst/>
            <a:rect r="r" b="b" t="t" l="l"/>
            <a:pathLst>
              <a:path h="643079" w="647235">
                <a:moveTo>
                  <a:pt x="0" y="0"/>
                </a:moveTo>
                <a:lnTo>
                  <a:pt x="647235" y="0"/>
                </a:lnTo>
                <a:lnTo>
                  <a:pt x="647235" y="643080"/>
                </a:lnTo>
                <a:lnTo>
                  <a:pt x="0" y="6430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25763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00212" y="6750081"/>
            <a:ext cx="676965" cy="818084"/>
          </a:xfrm>
          <a:custGeom>
            <a:avLst/>
            <a:gdLst/>
            <a:ahLst/>
            <a:cxnLst/>
            <a:rect r="r" b="b" t="t" l="l"/>
            <a:pathLst>
              <a:path h="818084" w="676965">
                <a:moveTo>
                  <a:pt x="0" y="0"/>
                </a:moveTo>
                <a:lnTo>
                  <a:pt x="676964" y="0"/>
                </a:lnTo>
                <a:lnTo>
                  <a:pt x="676964" y="818084"/>
                </a:lnTo>
                <a:lnTo>
                  <a:pt x="0" y="8180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58357" y="6393871"/>
            <a:ext cx="1470463" cy="1524776"/>
          </a:xfrm>
          <a:custGeom>
            <a:avLst/>
            <a:gdLst/>
            <a:ahLst/>
            <a:cxnLst/>
            <a:rect r="r" b="b" t="t" l="l"/>
            <a:pathLst>
              <a:path h="1524776" w="1470463">
                <a:moveTo>
                  <a:pt x="0" y="0"/>
                </a:moveTo>
                <a:lnTo>
                  <a:pt x="1470463" y="0"/>
                </a:lnTo>
                <a:lnTo>
                  <a:pt x="1470463" y="1524776"/>
                </a:lnTo>
                <a:lnTo>
                  <a:pt x="0" y="15247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8158" t="0" r="-2775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60006" y="8290122"/>
            <a:ext cx="1233582" cy="1233582"/>
          </a:xfrm>
          <a:custGeom>
            <a:avLst/>
            <a:gdLst/>
            <a:ahLst/>
            <a:cxnLst/>
            <a:rect r="r" b="b" t="t" l="l"/>
            <a:pathLst>
              <a:path h="1233582" w="1233582">
                <a:moveTo>
                  <a:pt x="0" y="0"/>
                </a:moveTo>
                <a:lnTo>
                  <a:pt x="1233582" y="0"/>
                </a:lnTo>
                <a:lnTo>
                  <a:pt x="1233582" y="1233582"/>
                </a:lnTo>
                <a:lnTo>
                  <a:pt x="0" y="12335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3061099"/>
            <a:ext cx="8587164" cy="110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147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Current Tools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93588" y="4737116"/>
            <a:ext cx="4649722" cy="64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1"/>
              </a:lnSpc>
              <a:spcBef>
                <a:spcPct val="0"/>
              </a:spcBef>
            </a:pPr>
            <a:r>
              <a:rPr lang="en-US" b="true" sz="40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Standard Tools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99761" y="4737116"/>
            <a:ext cx="4649722" cy="64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11"/>
              </a:lnSpc>
              <a:spcBef>
                <a:spcPct val="0"/>
              </a:spcBef>
            </a:pPr>
            <a:r>
              <a:rPr lang="en-US" b="true" sz="4047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Current Trends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34289" y="5580140"/>
            <a:ext cx="6385148" cy="8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TensorFlow / Keras: High-level APIs with extensive pretrained model hubs.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34289" y="6768243"/>
            <a:ext cx="5949554" cy="133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PyT</a:t>
            </a:r>
            <a:r>
              <a:rPr lang="en-US" sz="249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orch / TorchVision: Flexible research frameworks with built-in pretrained CNNs.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34289" y="8390867"/>
            <a:ext cx="5688966" cy="133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Hugging Face: The community standard for BERT, GPT, and vision transformers.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04333" y="5680009"/>
            <a:ext cx="5068756" cy="8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Massive F</a:t>
            </a:r>
            <a:r>
              <a:rPr lang="en-US" b="true" sz="249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oundation models and GPT architectures.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17689" y="6873941"/>
            <a:ext cx="5870311" cy="8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Self-supervised learning on unprecedented scales.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73641" y="2594896"/>
            <a:ext cx="8760010" cy="186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41"/>
              </a:lnSpc>
            </a:pPr>
            <a:r>
              <a:rPr lang="en-US" sz="6393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Future of </a:t>
            </a:r>
            <a:r>
              <a:rPr lang="en-US" sz="6393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Transfer</a:t>
            </a:r>
          </a:p>
          <a:p>
            <a:pPr algn="r">
              <a:lnSpc>
                <a:spcPts val="6841"/>
              </a:lnSpc>
            </a:pPr>
            <a:r>
              <a:rPr lang="en-US" b="true" sz="6393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Learning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53711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63441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19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29315" y="-172512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2634" y="5757909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115127">
            <a:off x="1016141" y="-3179323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88954" y="1825706"/>
            <a:ext cx="6994017" cy="69940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395950" y="1206469"/>
            <a:ext cx="1496099" cy="1564548"/>
          </a:xfrm>
          <a:custGeom>
            <a:avLst/>
            <a:gdLst/>
            <a:ahLst/>
            <a:cxnLst/>
            <a:rect r="r" b="b" t="t" l="l"/>
            <a:pathLst>
              <a:path h="1564548" w="1496099">
                <a:moveTo>
                  <a:pt x="0" y="0"/>
                </a:moveTo>
                <a:lnTo>
                  <a:pt x="1496100" y="0"/>
                </a:lnTo>
                <a:lnTo>
                  <a:pt x="1496100" y="1564548"/>
                </a:lnTo>
                <a:lnTo>
                  <a:pt x="0" y="1564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51199" y="4607907"/>
            <a:ext cx="8116102" cy="431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Efficiency: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Moving toward m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ore efficient fine-tuning methods like LoRA (Low-Rank Adaptation) and adapters. </a:t>
            </a:r>
          </a:p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Generalization: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Better handling of zero-shot adaptation across vastly different domains. </a:t>
            </a:r>
          </a:p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Safety: 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Intensive research into reducing inherited biases and improving alignment robustness. </a:t>
            </a:r>
          </a:p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Ultimate Goal: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Moving toward more general-purpose AI systems (AGI).</a:t>
            </a:r>
          </a:p>
          <a:p>
            <a:pPr algn="l">
              <a:lnSpc>
                <a:spcPts val="34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39845" y="2530188"/>
            <a:ext cx="8760010" cy="100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41"/>
              </a:lnSpc>
            </a:pPr>
            <a:r>
              <a:rPr lang="en-US" b="true" sz="639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53711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63441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20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29315" y="-1725124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2634" y="5757909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115127">
            <a:off x="1016141" y="-3179323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8"/>
                </a:lnTo>
                <a:lnTo>
                  <a:pt x="0" y="942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88954" y="1825706"/>
            <a:ext cx="6994017" cy="69940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395950" y="1206469"/>
            <a:ext cx="1496099" cy="1564548"/>
          </a:xfrm>
          <a:custGeom>
            <a:avLst/>
            <a:gdLst/>
            <a:ahLst/>
            <a:cxnLst/>
            <a:rect r="r" b="b" t="t" l="l"/>
            <a:pathLst>
              <a:path h="1564548" w="1496099">
                <a:moveTo>
                  <a:pt x="0" y="0"/>
                </a:moveTo>
                <a:lnTo>
                  <a:pt x="1496100" y="0"/>
                </a:lnTo>
                <a:lnTo>
                  <a:pt x="1496100" y="1564548"/>
                </a:lnTo>
                <a:lnTo>
                  <a:pt x="0" y="1564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51199" y="4607907"/>
            <a:ext cx="8116102" cy="431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Efficient</a:t>
            </a: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Technique: 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Drastically reduces data, computing, and training time requirements. </a:t>
            </a:r>
          </a:p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Sc</a:t>
            </a: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alable:</a:t>
            </a: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Widely used in the real world across vision, NLP, speech, and robotics. </a:t>
            </a:r>
          </a:p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Pow</a:t>
            </a: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erful: 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Achieves state-of-the-art performance, provided there is sufficient task similarity and careful fine-tuning. </a:t>
            </a:r>
          </a:p>
          <a:p>
            <a:pPr algn="l" marL="527861" indent="-263930" lvl="1">
              <a:lnSpc>
                <a:spcPts val="34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Bo</a:t>
            </a: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ttom</a:t>
            </a:r>
            <a:r>
              <a:rPr lang="en-US" b="true" sz="2444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Line:</a:t>
            </a:r>
            <a:r>
              <a:rPr lang="en-US" b="true" sz="2444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It reduces costs and makes AI development practical. </a:t>
            </a:r>
          </a:p>
          <a:p>
            <a:pPr algn="l">
              <a:lnSpc>
                <a:spcPts val="34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70554">
                <a:alpha val="100000"/>
              </a:srgbClr>
            </a:gs>
            <a:gs pos="33333">
              <a:srgbClr val="210554">
                <a:alpha val="100000"/>
              </a:srgbClr>
            </a:gs>
            <a:gs pos="66667">
              <a:srgbClr val="130554">
                <a:alpha val="100000"/>
              </a:srgbClr>
            </a:gs>
            <a:gs pos="100000">
              <a:srgbClr val="13055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33213"/>
            <a:ext cx="4726791" cy="2137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85"/>
              </a:lnSpc>
              <a:spcBef>
                <a:spcPct val="0"/>
              </a:spcBef>
            </a:pPr>
            <a:r>
              <a:rPr lang="en-US" b="true" sz="1148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35933"/>
            <a:ext cx="4945247" cy="2137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85"/>
              </a:lnSpc>
              <a:spcBef>
                <a:spcPct val="0"/>
              </a:spcBef>
            </a:pPr>
            <a:r>
              <a:rPr lang="en-US" b="true" sz="11489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6469" y="5413246"/>
            <a:ext cx="5752026" cy="62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4"/>
              </a:lnSpc>
            </a:pPr>
            <a:r>
              <a:rPr lang="en-US" sz="4172" b="true">
                <a:solidFill>
                  <a:srgbClr val="FF7AE6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References: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197421" y="-1757387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1932" y="5145366"/>
            <a:ext cx="7323792" cy="8229600"/>
          </a:xfrm>
          <a:custGeom>
            <a:avLst/>
            <a:gdLst/>
            <a:ahLst/>
            <a:cxnLst/>
            <a:rect r="r" b="b" t="t" l="l"/>
            <a:pathLst>
              <a:path h="8229600" w="7323792">
                <a:moveTo>
                  <a:pt x="0" y="0"/>
                </a:moveTo>
                <a:lnTo>
                  <a:pt x="7323792" y="0"/>
                </a:lnTo>
                <a:lnTo>
                  <a:pt x="73237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799252">
            <a:off x="7781687" y="-2513523"/>
            <a:ext cx="4986242" cy="9424168"/>
          </a:xfrm>
          <a:custGeom>
            <a:avLst/>
            <a:gdLst/>
            <a:ahLst/>
            <a:cxnLst/>
            <a:rect r="r" b="b" t="t" l="l"/>
            <a:pathLst>
              <a:path h="9424168" w="4986242">
                <a:moveTo>
                  <a:pt x="0" y="0"/>
                </a:moveTo>
                <a:lnTo>
                  <a:pt x="4986242" y="0"/>
                </a:lnTo>
                <a:lnTo>
                  <a:pt x="4986242" y="9424169"/>
                </a:lnTo>
                <a:lnTo>
                  <a:pt x="0" y="9424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65283" y="1954030"/>
            <a:ext cx="6994017" cy="69940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526298" y="6632083"/>
            <a:ext cx="2455061" cy="2567384"/>
          </a:xfrm>
          <a:custGeom>
            <a:avLst/>
            <a:gdLst/>
            <a:ahLst/>
            <a:cxnLst/>
            <a:rect r="r" b="b" t="t" l="l"/>
            <a:pathLst>
              <a:path h="2567384" w="2455061">
                <a:moveTo>
                  <a:pt x="0" y="0"/>
                </a:moveTo>
                <a:lnTo>
                  <a:pt x="2455060" y="0"/>
                </a:lnTo>
                <a:lnTo>
                  <a:pt x="2455060" y="2567384"/>
                </a:lnTo>
                <a:lnTo>
                  <a:pt x="0" y="2567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355538" cy="355538"/>
          </a:xfrm>
          <a:custGeom>
            <a:avLst/>
            <a:gdLst/>
            <a:ahLst/>
            <a:cxnLst/>
            <a:rect r="r" b="b" t="t" l="l"/>
            <a:pathLst>
              <a:path h="355538" w="355538">
                <a:moveTo>
                  <a:pt x="0" y="0"/>
                </a:moveTo>
                <a:lnTo>
                  <a:pt x="355538" y="0"/>
                </a:lnTo>
                <a:lnTo>
                  <a:pt x="355538" y="355538"/>
                </a:lnTo>
                <a:lnTo>
                  <a:pt x="0" y="3555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38430" y="942975"/>
            <a:ext cx="3095859" cy="44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Page 21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167120"/>
            <a:ext cx="7349977" cy="309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950" indent="-188975" lvl="1">
              <a:lnSpc>
                <a:spcPts val="24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Pan, S. J., &amp; </a:t>
            </a: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Yang, Q. (2010). A Survey on Transfer Learning. IEEE Transactions on Knowledge and Data Engineering, 22(10), 1345–1359. </a:t>
            </a:r>
          </a:p>
          <a:p>
            <a:pPr algn="l" marL="377950" indent="-188975" lvl="1">
              <a:lnSpc>
                <a:spcPts val="24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IBM Think: What is Transfer Learning? </a:t>
            </a:r>
          </a:p>
          <a:p>
            <a:pPr algn="l" marL="377950" indent="-188975" lvl="1">
              <a:lnSpc>
                <a:spcPts val="24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AWS: What is Transfer Learning? </a:t>
            </a:r>
          </a:p>
          <a:p>
            <a:pPr algn="l" marL="377950" indent="-188975" lvl="1">
              <a:lnSpc>
                <a:spcPts val="24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GeeksforGeeks: Introduction to Transfer Learning </a:t>
            </a:r>
          </a:p>
          <a:p>
            <a:pPr algn="l" marL="377950" indent="-188975" lvl="1">
              <a:lnSpc>
                <a:spcPts val="24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Hugging Face: Transformers Fine-tuning Documentation </a:t>
            </a:r>
          </a:p>
          <a:p>
            <a:pPr algn="l" marL="377950" indent="-188975" lvl="1">
              <a:lnSpc>
                <a:spcPts val="24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PyTorch / TorchVision Pretrained Models </a:t>
            </a:r>
          </a:p>
          <a:p>
            <a:pPr algn="l" marL="377950" indent="-188975" lvl="1">
              <a:lnSpc>
                <a:spcPts val="24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5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TensorFlow / Keras Transfer Learning Guide </a:t>
            </a:r>
          </a:p>
          <a:p>
            <a:pPr algn="l">
              <a:lnSpc>
                <a:spcPts val="24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DAHIULzi3Og</dc:identifier>
  <dcterms:modified xsi:type="dcterms:W3CDTF">2011-08-01T06:04:30Z</dcterms:modified>
  <cp:revision>1</cp:revision>
  <dc:title>Purple and Pink Gradient Modern AI Project Overview Presentation</dc:title>
</cp:coreProperties>
</file>